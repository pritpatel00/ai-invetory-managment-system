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2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image" Target="../media/image2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6.wav"/><Relationship Id="rId7" Type="http://schemas.openxmlformats.org/officeDocument/2006/relationships/image" Target="../media/image2.png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6.wav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8.wav"/><Relationship Id="rId7" Type="http://schemas.openxmlformats.org/officeDocument/2006/relationships/image" Target="../media/image2.png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8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wav"/><Relationship Id="rId1" Type="http://schemas.microsoft.com/office/2007/relationships/media" Target="../media/media9.wav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6.wav"/><Relationship Id="rId7" Type="http://schemas.openxmlformats.org/officeDocument/2006/relationships/image" Target="../media/image6.jpeg"/><Relationship Id="rId2" Type="http://schemas.openxmlformats.org/officeDocument/2006/relationships/audio" Target="../media/media10.wav"/><Relationship Id="rId1" Type="http://schemas.microsoft.com/office/2007/relationships/media" Target="../media/media10.wav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audio" Target="../media/media6.wav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wav"/><Relationship Id="rId1" Type="http://schemas.microsoft.com/office/2007/relationships/media" Target="../media/media11.wav"/><Relationship Id="rId6" Type="http://schemas.openxmlformats.org/officeDocument/2006/relationships/image" Target="../media/image2.png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wav"/><Relationship Id="rId1" Type="http://schemas.microsoft.com/office/2007/relationships/media" Target="../media/media12.wav"/><Relationship Id="rId6" Type="http://schemas.openxmlformats.org/officeDocument/2006/relationships/image" Target="../media/image2.png"/><Relationship Id="rId5" Type="http://schemas.openxmlformats.org/officeDocument/2006/relationships/image" Target="../media/image8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wav"/><Relationship Id="rId1" Type="http://schemas.microsoft.com/office/2007/relationships/media" Target="../media/media13.wav"/><Relationship Id="rId6" Type="http://schemas.openxmlformats.org/officeDocument/2006/relationships/image" Target="../media/image2.png"/><Relationship Id="rId5" Type="http://schemas.openxmlformats.org/officeDocument/2006/relationships/image" Target="../media/image9.jpe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wav"/><Relationship Id="rId1" Type="http://schemas.microsoft.com/office/2007/relationships/media" Target="../media/media14.wa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wav"/><Relationship Id="rId1" Type="http://schemas.microsoft.com/office/2007/relationships/media" Target="../media/media15.wav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rk-panel">
            <a:extLst>
              <a:ext uri="{FF2B5EF4-FFF2-40B4-BE49-F238E27FC236}">
                <a16:creationId xmlns:a16="http://schemas.microsoft.com/office/drawing/2014/main" id="{B8373CB9-12C5-4E3B-A44C-848DFBC7CC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81750" cy="6858000"/>
          </a:xfrm>
          <a:prstGeom prst="roundRect">
            <a:avLst>
              <a:gd name="adj" fmla="val 1194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3" name="animate-eyebrow-Real warehouse • real application • real database">
            <a:extLst>
              <a:ext uri="{FF2B5EF4-FFF2-40B4-BE49-F238E27FC236}">
                <a16:creationId xmlns:a16="http://schemas.microsoft.com/office/drawing/2014/main" id="{428C8181-D527-49E7-92BE-3A6185FF1825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5C5F0"/>
                </a:solidFill>
              </a:defRPr>
            </a:pPr>
            <a:r>
              <a:rPr sz="975" b="1">
                <a:solidFill>
                  <a:srgbClr val="35C5F0"/>
                </a:solidFill>
              </a:rPr>
              <a:t>REAL WAREHOUSE • REAL APPLICATION • REAL DATABASE</a:t>
            </a:r>
          </a:p>
        </p:txBody>
      </p:sp>
      <p:sp>
        <p:nvSpPr>
          <p:cNvPr id="4" name="animate-title">
            <a:extLst>
              <a:ext uri="{FF2B5EF4-FFF2-40B4-BE49-F238E27FC236}">
                <a16:creationId xmlns:a16="http://schemas.microsoft.com/office/drawing/2014/main" id="{C02A660F-3831-4347-9DFC-19890AC120FC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5048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AI Voice Inventory</a:t>
            </a:r>
          </a:p>
          <a:p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Management</a:t>
            </a:r>
          </a:p>
        </p:txBody>
      </p:sp>
      <p:sp>
        <p:nvSpPr>
          <p:cNvPr id="5" name="animate-promise">
            <a:extLst>
              <a:ext uri="{FF2B5EF4-FFF2-40B4-BE49-F238E27FC236}">
                <a16:creationId xmlns:a16="http://schemas.microsoft.com/office/drawing/2014/main" id="{EF208EDF-AC74-4C5E-AAAF-4110116D2191}"/>
              </a:ext>
            </a:extLst>
          </p:cNvPr>
          <p:cNvSpPr>
            <a:spLocks noGrp="1"/>
          </p:cNvSpPr>
          <p:nvPr/>
        </p:nvSpPr>
        <p:spPr>
          <a:xfrm>
            <a:off x="666750" y="3219450"/>
            <a:ext cx="49530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9E8FA"/>
                </a:solidFill>
              </a:defRPr>
            </a:pPr>
            <a:r>
              <a:rPr sz="1800" b="0">
                <a:solidFill>
                  <a:srgbClr val="D9E8FA"/>
                </a:solidFill>
              </a:rPr>
              <a:t>A Warehouse Executive speaks. The system validates. The manager sees the result instantly.</a:t>
            </a:r>
          </a:p>
        </p:txBody>
      </p:sp>
      <p:sp>
        <p:nvSpPr>
          <p:cNvPr id="6" name="animate-pill-1">
            <a:extLst>
              <a:ext uri="{FF2B5EF4-FFF2-40B4-BE49-F238E27FC236}">
                <a16:creationId xmlns:a16="http://schemas.microsoft.com/office/drawing/2014/main" id="{5AF4E88A-D845-4776-A9C9-14BBB6655376}"/>
              </a:ext>
            </a:extLst>
          </p:cNvPr>
          <p:cNvSpPr>
            <a:spLocks noGrp="1"/>
          </p:cNvSpPr>
          <p:nvPr/>
        </p:nvSpPr>
        <p:spPr>
          <a:xfrm>
            <a:off x="666750" y="4591050"/>
            <a:ext cx="1809750" cy="400050"/>
          </a:xfrm>
          <a:prstGeom prst="roundRect">
            <a:avLst>
              <a:gd name="adj" fmla="val 19048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7" name="animate-pill-1-text">
            <a:extLst>
              <a:ext uri="{FF2B5EF4-FFF2-40B4-BE49-F238E27FC236}">
                <a16:creationId xmlns:a16="http://schemas.microsoft.com/office/drawing/2014/main" id="{97C1D954-E723-4475-8ADB-3156BE29B4BA}"/>
              </a:ext>
            </a:extLst>
          </p:cNvPr>
          <p:cNvSpPr>
            <a:spLocks noGrp="1"/>
          </p:cNvSpPr>
          <p:nvPr/>
        </p:nvSpPr>
        <p:spPr>
          <a:xfrm>
            <a:off x="781050" y="4686300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VOICE CONTROLLED</a:t>
            </a:r>
          </a:p>
        </p:txBody>
      </p:sp>
      <p:sp>
        <p:nvSpPr>
          <p:cNvPr id="8" name="animate-pill-2">
            <a:extLst>
              <a:ext uri="{FF2B5EF4-FFF2-40B4-BE49-F238E27FC236}">
                <a16:creationId xmlns:a16="http://schemas.microsoft.com/office/drawing/2014/main" id="{81968BE7-9190-4F7E-92BD-C773633E517B}"/>
              </a:ext>
            </a:extLst>
          </p:cNvPr>
          <p:cNvSpPr>
            <a:spLocks noGrp="1"/>
          </p:cNvSpPr>
          <p:nvPr/>
        </p:nvSpPr>
        <p:spPr>
          <a:xfrm>
            <a:off x="2647950" y="459105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12966F"/>
          </a:solidFill>
          <a:ln w="0">
            <a:noFill/>
            <a:prstDash val="solid"/>
          </a:ln>
        </p:spPr>
      </p:sp>
      <p:sp>
        <p:nvSpPr>
          <p:cNvPr id="9" name="animate-pill-2-text">
            <a:extLst>
              <a:ext uri="{FF2B5EF4-FFF2-40B4-BE49-F238E27FC236}">
                <a16:creationId xmlns:a16="http://schemas.microsoft.com/office/drawing/2014/main" id="{DD0D5508-8F4B-4F78-97E6-185A3B8FCB56}"/>
              </a:ext>
            </a:extLst>
          </p:cNvPr>
          <p:cNvSpPr>
            <a:spLocks noGrp="1"/>
          </p:cNvSpPr>
          <p:nvPr/>
        </p:nvSpPr>
        <p:spPr>
          <a:xfrm>
            <a:off x="2762250" y="46863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AUDIT READY</a:t>
            </a:r>
          </a:p>
        </p:txBody>
      </p:sp>
      <p:sp>
        <p:nvSpPr>
          <p:cNvPr id="10" name="subtitle-bg">
            <a:extLst>
              <a:ext uri="{FF2B5EF4-FFF2-40B4-BE49-F238E27FC236}">
                <a16:creationId xmlns:a16="http://schemas.microsoft.com/office/drawing/2014/main" id="{D6E98153-539F-4EA3-8E53-A5F3FD6FFE5D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11" name="subtitle-text">
            <a:extLst>
              <a:ext uri="{FF2B5EF4-FFF2-40B4-BE49-F238E27FC236}">
                <a16:creationId xmlns:a16="http://schemas.microsoft.com/office/drawing/2014/main" id="{91E169FC-EBC8-4630-8896-7335DAC2B653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Manage real inventory operations faster using only your voice.</a:t>
            </a:r>
          </a:p>
        </p:txBody>
      </p:sp>
      <p:pic>
        <p:nvPicPr>
          <p:cNvPr id="13" name="narration-01">
            <a:hlinkClick r:id="" action="ppaction://media"/>
            <a:extLst>
              <a:ext uri="{FF2B5EF4-FFF2-40B4-BE49-F238E27FC236}">
                <a16:creationId xmlns:a16="http://schemas.microsoft.com/office/drawing/2014/main" id="{9895888E-D5D7-FFAC-ECA6-FC8482B027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86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>
        <p:fade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nimate-eyebrow-Warehouse Executive mobile workspace">
            <a:extLst>
              <a:ext uri="{FF2B5EF4-FFF2-40B4-BE49-F238E27FC236}">
                <a16:creationId xmlns:a16="http://schemas.microsoft.com/office/drawing/2014/main" id="{284DC46F-63C2-407E-B8E6-665CC6F91396}"/>
              </a:ext>
            </a:extLst>
          </p:cNvPr>
          <p:cNvSpPr>
            <a:spLocks noGrp="1"/>
          </p:cNvSpPr>
          <p:nvPr/>
        </p:nvSpPr>
        <p:spPr>
          <a:xfrm>
            <a:off x="628650" y="4000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46BFD"/>
                </a:solidFill>
              </a:defRPr>
            </a:pPr>
            <a:r>
              <a:rPr sz="975" b="1">
                <a:solidFill>
                  <a:srgbClr val="246BFD"/>
                </a:solidFill>
              </a:rPr>
              <a:t>WAREHOUSE EXECUTIVE MOBILE WORKSPACE</a:t>
            </a:r>
          </a:p>
        </p:txBody>
      </p:sp>
      <p:sp>
        <p:nvSpPr>
          <p:cNvPr id="2" name="animate-title">
            <a:extLst>
              <a:ext uri="{FF2B5EF4-FFF2-40B4-BE49-F238E27FC236}">
                <a16:creationId xmlns:a16="http://schemas.microsoft.com/office/drawing/2014/main" id="{5655B74B-10B5-40B5-B71F-DA3EB51D3E68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6191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2A52"/>
                </a:solidFill>
              </a:defRPr>
            </a:pPr>
            <a:r>
              <a:rPr sz="3000" b="1">
                <a:solidFill>
                  <a:srgbClr val="102A52"/>
                </a:solidFill>
              </a:rPr>
              <a:t>One tap starts a controlled inventory action</a:t>
            </a:r>
          </a:p>
        </p:txBody>
      </p:sp>
      <p:sp>
        <p:nvSpPr>
          <p:cNvPr id="3" name="animate-body">
            <a:extLst>
              <a:ext uri="{FF2B5EF4-FFF2-40B4-BE49-F238E27FC236}">
                <a16:creationId xmlns:a16="http://schemas.microsoft.com/office/drawing/2014/main" id="{A891E7FC-03CB-4276-AE2C-6A86E4A16093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5715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6F86A5"/>
                </a:solidFill>
              </a:defRPr>
            </a:pPr>
            <a:r>
              <a:rPr sz="1650" b="0">
                <a:solidFill>
                  <a:srgbClr val="6F86A5"/>
                </a:solidFill>
              </a:rPr>
              <a:t>The responsive web application confirms the worker, warehouse and connection before recording begins.</a:t>
            </a:r>
          </a:p>
        </p:txBody>
      </p:sp>
      <p:sp>
        <p:nvSpPr>
          <p:cNvPr id="4" name="phone-shadow">
            <a:extLst>
              <a:ext uri="{FF2B5EF4-FFF2-40B4-BE49-F238E27FC236}">
                <a16:creationId xmlns:a16="http://schemas.microsoft.com/office/drawing/2014/main" id="{607C7E1A-C43B-40C6-8E79-FAD71D84D92F}"/>
              </a:ext>
            </a:extLst>
          </p:cNvPr>
          <p:cNvSpPr>
            <a:spLocks noGrp="1"/>
          </p:cNvSpPr>
          <p:nvPr/>
        </p:nvSpPr>
        <p:spPr>
          <a:xfrm>
            <a:off x="7381875" y="152400"/>
            <a:ext cx="3619500" cy="6000750"/>
          </a:xfrm>
          <a:prstGeom prst="roundRect">
            <a:avLst>
              <a:gd name="adj" fmla="val 2105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5" name="phone-frame">
            <a:extLst>
              <a:ext uri="{FF2B5EF4-FFF2-40B4-BE49-F238E27FC236}">
                <a16:creationId xmlns:a16="http://schemas.microsoft.com/office/drawing/2014/main" id="{105BA978-CCBD-4AB8-8FF4-9AB77DAC4526}"/>
              </a:ext>
            </a:extLst>
          </p:cNvPr>
          <p:cNvSpPr>
            <a:spLocks noGrp="1"/>
          </p:cNvSpPr>
          <p:nvPr/>
        </p:nvSpPr>
        <p:spPr>
          <a:xfrm>
            <a:off x="7477125" y="247650"/>
            <a:ext cx="3429000" cy="58102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B9CAE1"/>
            </a:solidFill>
            <a:prstDash val="solid"/>
          </a:ln>
        </p:spPr>
      </p:sp>
      <p:sp>
        <p:nvSpPr>
          <p:cNvPr id="6" name="phone-notch">
            <a:extLst>
              <a:ext uri="{FF2B5EF4-FFF2-40B4-BE49-F238E27FC236}">
                <a16:creationId xmlns:a16="http://schemas.microsoft.com/office/drawing/2014/main" id="{D82E2360-EFCA-41D3-AD19-A6B0FEF7EB54}"/>
              </a:ext>
            </a:extLst>
          </p:cNvPr>
          <p:cNvSpPr>
            <a:spLocks noGrp="1"/>
          </p:cNvSpPr>
          <p:nvPr/>
        </p:nvSpPr>
        <p:spPr>
          <a:xfrm>
            <a:off x="8642985" y="333375"/>
            <a:ext cx="1097280" cy="114300"/>
          </a:xfrm>
          <a:prstGeom prst="roundRect">
            <a:avLst>
              <a:gd name="adj" fmla="val 500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rcRect t="33257" b="33257"/>
          <a:stretch>
            <a:fillRect/>
          </a:stretch>
        </p:blipFill>
        <p:spPr>
          <a:xfrm>
            <a:off x="7581900" y="476250"/>
            <a:ext cx="3219450" cy="5467350"/>
          </a:xfrm>
          <a:prstGeom prst="rect">
            <a:avLst/>
          </a:prstGeom>
        </p:spPr>
      </p:pic>
      <p:sp>
        <p:nvSpPr>
          <p:cNvPr id="8" name="animate-label-0">
            <a:extLst>
              <a:ext uri="{FF2B5EF4-FFF2-40B4-BE49-F238E27FC236}">
                <a16:creationId xmlns:a16="http://schemas.microsoft.com/office/drawing/2014/main" id="{5FD9AED8-4005-41AD-89B9-56B1CDFE19DF}"/>
              </a:ext>
            </a:extLst>
          </p:cNvPr>
          <p:cNvSpPr>
            <a:spLocks noGrp="1"/>
          </p:cNvSpPr>
          <p:nvPr/>
        </p:nvSpPr>
        <p:spPr>
          <a:xfrm>
            <a:off x="628650" y="30480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F86A5"/>
                </a:solidFill>
              </a:defRPr>
            </a:pPr>
            <a:r>
              <a:rPr sz="900" b="1">
                <a:solidFill>
                  <a:srgbClr val="6F86A5"/>
                </a:solidFill>
              </a:rPr>
              <a:t>USER</a:t>
            </a:r>
          </a:p>
        </p:txBody>
      </p:sp>
      <p:sp>
        <p:nvSpPr>
          <p:cNvPr id="9" name="animate-value-0">
            <a:extLst>
              <a:ext uri="{FF2B5EF4-FFF2-40B4-BE49-F238E27FC236}">
                <a16:creationId xmlns:a16="http://schemas.microsoft.com/office/drawing/2014/main" id="{E65C8C2A-6828-4D46-9B82-B8B6E8C2F1C4}"/>
              </a:ext>
            </a:extLst>
          </p:cNvPr>
          <p:cNvSpPr>
            <a:spLocks noGrp="1"/>
          </p:cNvSpPr>
          <p:nvPr/>
        </p:nvSpPr>
        <p:spPr>
          <a:xfrm>
            <a:off x="1943100" y="29813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A52"/>
                </a:solidFill>
              </a:defRPr>
            </a:pPr>
            <a:r>
              <a:rPr sz="1575" b="1">
                <a:solidFill>
                  <a:srgbClr val="102A52"/>
                </a:solidFill>
              </a:rPr>
              <a:t>Warehouse Executive</a:t>
            </a:r>
          </a:p>
        </p:txBody>
      </p:sp>
      <p:sp>
        <p:nvSpPr>
          <p:cNvPr id="10" name="animate-label-1">
            <a:extLst>
              <a:ext uri="{FF2B5EF4-FFF2-40B4-BE49-F238E27FC236}">
                <a16:creationId xmlns:a16="http://schemas.microsoft.com/office/drawing/2014/main" id="{30548FA8-9313-4E0F-A915-F2C38E2EBAAC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F86A5"/>
                </a:solidFill>
              </a:defRPr>
            </a:pPr>
            <a:r>
              <a:rPr sz="900" b="1">
                <a:solidFill>
                  <a:srgbClr val="6F86A5"/>
                </a:solidFill>
              </a:rPr>
              <a:t>WORKSPACE</a:t>
            </a:r>
          </a:p>
        </p:txBody>
      </p:sp>
      <p:sp>
        <p:nvSpPr>
          <p:cNvPr id="11" name="animate-value-1">
            <a:extLst>
              <a:ext uri="{FF2B5EF4-FFF2-40B4-BE49-F238E27FC236}">
                <a16:creationId xmlns:a16="http://schemas.microsoft.com/office/drawing/2014/main" id="{4A077E3C-E7C6-42EA-9AD6-71E47B1664A0}"/>
              </a:ext>
            </a:extLst>
          </p:cNvPr>
          <p:cNvSpPr>
            <a:spLocks noGrp="1"/>
          </p:cNvSpPr>
          <p:nvPr/>
        </p:nvSpPr>
        <p:spPr>
          <a:xfrm>
            <a:off x="1943100" y="36861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A52"/>
                </a:solidFill>
              </a:defRPr>
            </a:pPr>
            <a:r>
              <a:rPr sz="1575" b="1">
                <a:solidFill>
                  <a:srgbClr val="102A52"/>
                </a:solidFill>
              </a:rPr>
              <a:t>Central Warehouse</a:t>
            </a:r>
          </a:p>
        </p:txBody>
      </p:sp>
      <p:sp>
        <p:nvSpPr>
          <p:cNvPr id="12" name="animate-label-2">
            <a:extLst>
              <a:ext uri="{FF2B5EF4-FFF2-40B4-BE49-F238E27FC236}">
                <a16:creationId xmlns:a16="http://schemas.microsoft.com/office/drawing/2014/main" id="{813CD3C5-E182-457E-82B0-FFD7B56FC77E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F86A5"/>
                </a:solidFill>
              </a:defRPr>
            </a:pPr>
            <a:r>
              <a:rPr sz="900" b="1">
                <a:solidFill>
                  <a:srgbClr val="6F86A5"/>
                </a:solidFill>
              </a:rPr>
              <a:t>STATUS</a:t>
            </a:r>
          </a:p>
        </p:txBody>
      </p:sp>
      <p:sp>
        <p:nvSpPr>
          <p:cNvPr id="13" name="animate-value-2">
            <a:extLst>
              <a:ext uri="{FF2B5EF4-FFF2-40B4-BE49-F238E27FC236}">
                <a16:creationId xmlns:a16="http://schemas.microsoft.com/office/drawing/2014/main" id="{770A46C2-FFA0-449A-9C3E-79D4E973DC25}"/>
              </a:ext>
            </a:extLst>
          </p:cNvPr>
          <p:cNvSpPr>
            <a:spLocks noGrp="1"/>
          </p:cNvSpPr>
          <p:nvPr/>
        </p:nvSpPr>
        <p:spPr>
          <a:xfrm>
            <a:off x="1943100" y="43910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2966F"/>
                </a:solidFill>
              </a:defRPr>
            </a:pPr>
            <a:r>
              <a:rPr sz="1575" b="1">
                <a:solidFill>
                  <a:srgbClr val="12966F"/>
                </a:solidFill>
              </a:rPr>
              <a:t>Online • Secure</a:t>
            </a:r>
          </a:p>
        </p:txBody>
      </p:sp>
      <p:sp>
        <p:nvSpPr>
          <p:cNvPr id="14" name="animate-click-ring">
            <a:extLst>
              <a:ext uri="{FF2B5EF4-FFF2-40B4-BE49-F238E27FC236}">
                <a16:creationId xmlns:a16="http://schemas.microsoft.com/office/drawing/2014/main" id="{057AC1C9-0D7C-4CCC-8AB9-6BCFD8789FCF}"/>
              </a:ext>
            </a:extLst>
          </p:cNvPr>
          <p:cNvSpPr>
            <a:spLocks noGrp="1"/>
          </p:cNvSpPr>
          <p:nvPr/>
        </p:nvSpPr>
        <p:spPr>
          <a:xfrm>
            <a:off x="9925050" y="51625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5" name="animate-click-dot">
            <a:extLst>
              <a:ext uri="{FF2B5EF4-FFF2-40B4-BE49-F238E27FC236}">
                <a16:creationId xmlns:a16="http://schemas.microsoft.com/office/drawing/2014/main" id="{D94D03F9-6D8F-4D1D-ACE1-CE824991C8E9}"/>
              </a:ext>
            </a:extLst>
          </p:cNvPr>
          <p:cNvSpPr>
            <a:spLocks noGrp="1"/>
          </p:cNvSpPr>
          <p:nvPr/>
        </p:nvSpPr>
        <p:spPr>
          <a:xfrm>
            <a:off x="10096500" y="533400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16" name="animate-click-label">
            <a:extLst>
              <a:ext uri="{FF2B5EF4-FFF2-40B4-BE49-F238E27FC236}">
                <a16:creationId xmlns:a16="http://schemas.microsoft.com/office/drawing/2014/main" id="{B12924DE-6FB4-4CD5-92AA-589F8D3677EF}"/>
              </a:ext>
            </a:extLst>
          </p:cNvPr>
          <p:cNvSpPr>
            <a:spLocks noGrp="1"/>
          </p:cNvSpPr>
          <p:nvPr/>
        </p:nvSpPr>
        <p:spPr>
          <a:xfrm>
            <a:off x="9391650" y="57912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Open voice entry</a:t>
            </a:r>
          </a:p>
        </p:txBody>
      </p:sp>
      <p:sp>
        <p:nvSpPr>
          <p:cNvPr id="17" name="subtitle-bg">
            <a:extLst>
              <a:ext uri="{FF2B5EF4-FFF2-40B4-BE49-F238E27FC236}">
                <a16:creationId xmlns:a16="http://schemas.microsoft.com/office/drawing/2014/main" id="{CB3FBAFD-DD57-47D0-8034-E0D582672D62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18" name="subtitle-text">
            <a:extLst>
              <a:ext uri="{FF2B5EF4-FFF2-40B4-BE49-F238E27FC236}">
                <a16:creationId xmlns:a16="http://schemas.microsoft.com/office/drawing/2014/main" id="{44646692-D02B-40CD-9B82-71D34CCBC926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The mobile web app works on warehouse phones, tablets and desktop browsers.</a:t>
            </a:r>
          </a:p>
        </p:txBody>
      </p:sp>
      <p:pic>
        <p:nvPicPr>
          <p:cNvPr id="7" name="narration-02">
            <a:hlinkClick r:id="" action="ppaction://media"/>
            <a:extLst>
              <a:ext uri="{FF2B5EF4-FFF2-40B4-BE49-F238E27FC236}">
                <a16:creationId xmlns:a16="http://schemas.microsoft.com/office/drawing/2014/main" id="{6B96A263-23DC-8757-BDB9-4E4BBB43BF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64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>
        <p:fade/>
      </p:transition>
    </mc:Choice>
    <mc:Fallback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8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nimate-eyebrow-Live voice capture">
            <a:extLst>
              <a:ext uri="{FF2B5EF4-FFF2-40B4-BE49-F238E27FC236}">
                <a16:creationId xmlns:a16="http://schemas.microsoft.com/office/drawing/2014/main" id="{B52E4BC9-40F0-48EF-BFBD-90C2B7071EAF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5C5F0"/>
                </a:solidFill>
              </a:defRPr>
            </a:pPr>
            <a:r>
              <a:rPr sz="975" b="1">
                <a:solidFill>
                  <a:srgbClr val="35C5F0"/>
                </a:solidFill>
              </a:rPr>
              <a:t>LIVE VOICE CAPTURE</a:t>
            </a:r>
          </a:p>
        </p:txBody>
      </p:sp>
      <p:sp>
        <p:nvSpPr>
          <p:cNvPr id="2" name="animate-title">
            <a:extLst>
              <a:ext uri="{FF2B5EF4-FFF2-40B4-BE49-F238E27FC236}">
                <a16:creationId xmlns:a16="http://schemas.microsoft.com/office/drawing/2014/main" id="{231DDA54-198C-4ACE-BC24-BFA0D35A1A22}"/>
              </a:ext>
            </a:extLst>
          </p:cNvPr>
          <p:cNvSpPr>
            <a:spLocks noGrp="1"/>
          </p:cNvSpPr>
          <p:nvPr/>
        </p:nvSpPr>
        <p:spPr>
          <a:xfrm>
            <a:off x="571500" y="685800"/>
            <a:ext cx="581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worker speaks naturally</a:t>
            </a:r>
          </a:p>
        </p:txBody>
      </p:sp>
      <p:sp>
        <p:nvSpPr>
          <p:cNvPr id="3" name="phone-shadow">
            <a:extLst>
              <a:ext uri="{FF2B5EF4-FFF2-40B4-BE49-F238E27FC236}">
                <a16:creationId xmlns:a16="http://schemas.microsoft.com/office/drawing/2014/main" id="{34B0E586-D61A-47A8-9020-AE9777AE2F7B}"/>
              </a:ext>
            </a:extLst>
          </p:cNvPr>
          <p:cNvSpPr>
            <a:spLocks noGrp="1"/>
          </p:cNvSpPr>
          <p:nvPr/>
        </p:nvSpPr>
        <p:spPr>
          <a:xfrm>
            <a:off x="495300" y="1219200"/>
            <a:ext cx="3467100" cy="4933950"/>
          </a:xfrm>
          <a:prstGeom prst="roundRect">
            <a:avLst>
              <a:gd name="adj" fmla="val 2198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4" name="phone-frame">
            <a:extLst>
              <a:ext uri="{FF2B5EF4-FFF2-40B4-BE49-F238E27FC236}">
                <a16:creationId xmlns:a16="http://schemas.microsoft.com/office/drawing/2014/main" id="{C7425531-2F13-4D10-9C03-928F966D0CF5}"/>
              </a:ext>
            </a:extLst>
          </p:cNvPr>
          <p:cNvSpPr>
            <a:spLocks noGrp="1"/>
          </p:cNvSpPr>
          <p:nvPr/>
        </p:nvSpPr>
        <p:spPr>
          <a:xfrm>
            <a:off x="590550" y="1314450"/>
            <a:ext cx="3276600" cy="474345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B9CAE1"/>
            </a:solidFill>
            <a:prstDash val="solid"/>
          </a:ln>
        </p:spPr>
      </p:sp>
      <p:sp>
        <p:nvSpPr>
          <p:cNvPr id="5" name="phone-notch">
            <a:extLst>
              <a:ext uri="{FF2B5EF4-FFF2-40B4-BE49-F238E27FC236}">
                <a16:creationId xmlns:a16="http://schemas.microsoft.com/office/drawing/2014/main" id="{B5B8FA64-0096-41DB-B910-7482E277919C}"/>
              </a:ext>
            </a:extLst>
          </p:cNvPr>
          <p:cNvSpPr>
            <a:spLocks noGrp="1"/>
          </p:cNvSpPr>
          <p:nvPr/>
        </p:nvSpPr>
        <p:spPr>
          <a:xfrm>
            <a:off x="1704594" y="1400175"/>
            <a:ext cx="1048512" cy="114300"/>
          </a:xfrm>
          <a:prstGeom prst="roundRect">
            <a:avLst>
              <a:gd name="adj" fmla="val 500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rcRect t="26961" b="26961"/>
          <a:stretch>
            <a:fillRect/>
          </a:stretch>
        </p:blipFill>
        <p:spPr>
          <a:xfrm>
            <a:off x="704850" y="1524000"/>
            <a:ext cx="3048000" cy="4400550"/>
          </a:xfrm>
          <a:prstGeom prst="rect">
            <a:avLst/>
          </a:prstGeom>
        </p:spPr>
      </p:pic>
      <p:sp>
        <p:nvSpPr>
          <p:cNvPr id="7" name="professional-prompt-cover">
            <a:extLst>
              <a:ext uri="{FF2B5EF4-FFF2-40B4-BE49-F238E27FC236}">
                <a16:creationId xmlns:a16="http://schemas.microsoft.com/office/drawing/2014/main" id="{8A03C13D-B0CC-437C-BAA6-446FFB94528E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30099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" name="animate-mobile-label">
            <a:extLst>
              <a:ext uri="{FF2B5EF4-FFF2-40B4-BE49-F238E27FC236}">
                <a16:creationId xmlns:a16="http://schemas.microsoft.com/office/drawing/2014/main" id="{2D235C91-1439-4021-B164-DEE27648CA8A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246BFD"/>
                </a:solidFill>
              </a:defRPr>
            </a:pPr>
            <a:r>
              <a:rPr sz="825" b="1">
                <a:solidFill>
                  <a:srgbClr val="246BFD"/>
                </a:solidFill>
              </a:rPr>
              <a:t>VOICE TRANSACTION</a:t>
            </a:r>
          </a:p>
        </p:txBody>
      </p:sp>
      <p:sp>
        <p:nvSpPr>
          <p:cNvPr id="9" name="animate-professional-prompt">
            <a:extLst>
              <a:ext uri="{FF2B5EF4-FFF2-40B4-BE49-F238E27FC236}">
                <a16:creationId xmlns:a16="http://schemas.microsoft.com/office/drawing/2014/main" id="{13865B29-98AD-4165-AEA7-25AF6547997B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266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02A52"/>
                </a:solidFill>
              </a:defRPr>
            </a:pPr>
            <a:r>
              <a:rPr sz="1350" b="1">
                <a:solidFill>
                  <a:srgbClr val="102A52"/>
                </a:solidFill>
              </a:rPr>
              <a:t>“Counted fifteen boxes of Nitrile Safety Gloves at Rack A-01.”</a:t>
            </a:r>
          </a:p>
        </p:txBody>
      </p:sp>
      <p:sp>
        <p:nvSpPr>
          <p:cNvPr id="10" name="speech-panel">
            <a:extLst>
              <a:ext uri="{FF2B5EF4-FFF2-40B4-BE49-F238E27FC236}">
                <a16:creationId xmlns:a16="http://schemas.microsoft.com/office/drawing/2014/main" id="{9DEB060B-BF9D-4CA2-AF50-2FA43BB1DD2D}"/>
              </a:ext>
            </a:extLst>
          </p:cNvPr>
          <p:cNvSpPr>
            <a:spLocks noGrp="1"/>
          </p:cNvSpPr>
          <p:nvPr/>
        </p:nvSpPr>
        <p:spPr>
          <a:xfrm>
            <a:off x="4438650" y="1409700"/>
            <a:ext cx="7143750" cy="3886200"/>
          </a:xfrm>
          <a:prstGeom prst="roundRect">
            <a:avLst>
              <a:gd name="adj" fmla="val 1961"/>
            </a:avLst>
          </a:prstGeom>
          <a:solidFill>
            <a:srgbClr val="102C58"/>
          </a:solidFill>
          <a:ln w="9525">
            <a:solidFill>
              <a:srgbClr val="2E5C94"/>
            </a:solidFill>
            <a:prstDash val="solid"/>
          </a:ln>
        </p:spPr>
      </p:sp>
      <p:sp>
        <p:nvSpPr>
          <p:cNvPr id="11" name="animate-worker">
            <a:extLst>
              <a:ext uri="{FF2B5EF4-FFF2-40B4-BE49-F238E27FC236}">
                <a16:creationId xmlns:a16="http://schemas.microsoft.com/office/drawing/2014/main" id="{D8F187FE-40E1-4615-A4DB-6F116407B452}"/>
              </a:ext>
            </a:extLst>
          </p:cNvPr>
          <p:cNvSpPr>
            <a:spLocks noGrp="1"/>
          </p:cNvSpPr>
          <p:nvPr/>
        </p:nvSpPr>
        <p:spPr>
          <a:xfrm>
            <a:off x="4857750" y="17526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5C5F0"/>
                </a:solidFill>
              </a:defRPr>
            </a:pPr>
            <a:r>
              <a:rPr sz="975" b="1">
                <a:solidFill>
                  <a:srgbClr val="35C5F0"/>
                </a:solidFill>
              </a:rPr>
              <a:t>WAREHOUSE EXECUTIVE</a:t>
            </a:r>
          </a:p>
        </p:txBody>
      </p:sp>
      <p:sp>
        <p:nvSpPr>
          <p:cNvPr id="12" name="animate-quote">
            <a:extLst>
              <a:ext uri="{FF2B5EF4-FFF2-40B4-BE49-F238E27FC236}">
                <a16:creationId xmlns:a16="http://schemas.microsoft.com/office/drawing/2014/main" id="{306EFBC0-5BBC-4617-8D4C-11D02CF60020}"/>
              </a:ext>
            </a:extLst>
          </p:cNvPr>
          <p:cNvSpPr>
            <a:spLocks noGrp="1"/>
          </p:cNvSpPr>
          <p:nvPr/>
        </p:nvSpPr>
        <p:spPr>
          <a:xfrm>
            <a:off x="4857750" y="2171700"/>
            <a:ext cx="6191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Counted 15 boxes of Nitrile Safety Gloves at Rack A-01.</a:t>
            </a:r>
          </a:p>
        </p:txBody>
      </p:sp>
      <p:sp>
        <p:nvSpPr>
          <p:cNvPr id="13" name="animate-wave-0">
            <a:extLst>
              <a:ext uri="{FF2B5EF4-FFF2-40B4-BE49-F238E27FC236}">
                <a16:creationId xmlns:a16="http://schemas.microsoft.com/office/drawing/2014/main" id="{83522B6D-D64D-4AFE-B806-94FB6CB63823}"/>
              </a:ext>
            </a:extLst>
          </p:cNvPr>
          <p:cNvSpPr>
            <a:spLocks noGrp="1"/>
          </p:cNvSpPr>
          <p:nvPr/>
        </p:nvSpPr>
        <p:spPr>
          <a:xfrm>
            <a:off x="4914900" y="3962400"/>
            <a:ext cx="171450" cy="304800"/>
          </a:xfrm>
          <a:prstGeom prst="roundRect">
            <a:avLst>
              <a:gd name="adj" fmla="val 44444"/>
            </a:avLst>
          </a:prstGeom>
          <a:solidFill>
            <a:srgbClr val="35C5F0"/>
          </a:solidFill>
          <a:ln w="0">
            <a:noFill/>
            <a:prstDash val="solid"/>
          </a:ln>
        </p:spPr>
      </p:sp>
      <p:sp>
        <p:nvSpPr>
          <p:cNvPr id="14" name="animate-wave-1">
            <a:extLst>
              <a:ext uri="{FF2B5EF4-FFF2-40B4-BE49-F238E27FC236}">
                <a16:creationId xmlns:a16="http://schemas.microsoft.com/office/drawing/2014/main" id="{425FFBEB-C523-48E8-B64A-0794D273E520}"/>
              </a:ext>
            </a:extLst>
          </p:cNvPr>
          <p:cNvSpPr>
            <a:spLocks noGrp="1"/>
          </p:cNvSpPr>
          <p:nvPr/>
        </p:nvSpPr>
        <p:spPr>
          <a:xfrm>
            <a:off x="5362575" y="3810000"/>
            <a:ext cx="171450" cy="609600"/>
          </a:xfrm>
          <a:prstGeom prst="roundRect">
            <a:avLst>
              <a:gd name="adj" fmla="val 44444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15" name="animate-wave-2">
            <a:extLst>
              <a:ext uri="{FF2B5EF4-FFF2-40B4-BE49-F238E27FC236}">
                <a16:creationId xmlns:a16="http://schemas.microsoft.com/office/drawing/2014/main" id="{C8EC32C8-1B3F-4612-AC35-2590DD58AEE5}"/>
              </a:ext>
            </a:extLst>
          </p:cNvPr>
          <p:cNvSpPr>
            <a:spLocks noGrp="1"/>
          </p:cNvSpPr>
          <p:nvPr/>
        </p:nvSpPr>
        <p:spPr>
          <a:xfrm>
            <a:off x="5810250" y="3667125"/>
            <a:ext cx="171450" cy="895350"/>
          </a:xfrm>
          <a:prstGeom prst="roundRect">
            <a:avLst>
              <a:gd name="adj" fmla="val 44444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16" name="animate-wave-3">
            <a:extLst>
              <a:ext uri="{FF2B5EF4-FFF2-40B4-BE49-F238E27FC236}">
                <a16:creationId xmlns:a16="http://schemas.microsoft.com/office/drawing/2014/main" id="{9688208C-8B0E-4EB8-86A9-D0CF90DCF7D2}"/>
              </a:ext>
            </a:extLst>
          </p:cNvPr>
          <p:cNvSpPr>
            <a:spLocks noGrp="1"/>
          </p:cNvSpPr>
          <p:nvPr/>
        </p:nvSpPr>
        <p:spPr>
          <a:xfrm>
            <a:off x="6257925" y="3886200"/>
            <a:ext cx="171450" cy="457200"/>
          </a:xfrm>
          <a:prstGeom prst="roundRect">
            <a:avLst>
              <a:gd name="adj" fmla="val 44444"/>
            </a:avLst>
          </a:prstGeom>
          <a:solidFill>
            <a:srgbClr val="35C5F0"/>
          </a:solidFill>
          <a:ln w="0">
            <a:noFill/>
            <a:prstDash val="solid"/>
          </a:ln>
        </p:spPr>
      </p:sp>
      <p:sp>
        <p:nvSpPr>
          <p:cNvPr id="17" name="animate-wave-4">
            <a:extLst>
              <a:ext uri="{FF2B5EF4-FFF2-40B4-BE49-F238E27FC236}">
                <a16:creationId xmlns:a16="http://schemas.microsoft.com/office/drawing/2014/main" id="{58C358DB-87A6-4CE2-8201-D1142F21AFAF}"/>
              </a:ext>
            </a:extLst>
          </p:cNvPr>
          <p:cNvSpPr>
            <a:spLocks noGrp="1"/>
          </p:cNvSpPr>
          <p:nvPr/>
        </p:nvSpPr>
        <p:spPr>
          <a:xfrm>
            <a:off x="6705600" y="3581400"/>
            <a:ext cx="171450" cy="1066800"/>
          </a:xfrm>
          <a:prstGeom prst="roundRect">
            <a:avLst>
              <a:gd name="adj" fmla="val 44444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18" name="animate-wave-5">
            <a:extLst>
              <a:ext uri="{FF2B5EF4-FFF2-40B4-BE49-F238E27FC236}">
                <a16:creationId xmlns:a16="http://schemas.microsoft.com/office/drawing/2014/main" id="{F8A0565E-8B4B-4E89-B486-69815A97431A}"/>
              </a:ext>
            </a:extLst>
          </p:cNvPr>
          <p:cNvSpPr>
            <a:spLocks noGrp="1"/>
          </p:cNvSpPr>
          <p:nvPr/>
        </p:nvSpPr>
        <p:spPr>
          <a:xfrm>
            <a:off x="7153275" y="3771900"/>
            <a:ext cx="171450" cy="685800"/>
          </a:xfrm>
          <a:prstGeom prst="roundRect">
            <a:avLst>
              <a:gd name="adj" fmla="val 44444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19" name="animate-wave-6">
            <a:extLst>
              <a:ext uri="{FF2B5EF4-FFF2-40B4-BE49-F238E27FC236}">
                <a16:creationId xmlns:a16="http://schemas.microsoft.com/office/drawing/2014/main" id="{FD998F26-5315-4F9C-B1B4-13FEBADCCEE2}"/>
              </a:ext>
            </a:extLst>
          </p:cNvPr>
          <p:cNvSpPr>
            <a:spLocks noGrp="1"/>
          </p:cNvSpPr>
          <p:nvPr/>
        </p:nvSpPr>
        <p:spPr>
          <a:xfrm>
            <a:off x="7600950" y="3524250"/>
            <a:ext cx="171450" cy="1181100"/>
          </a:xfrm>
          <a:prstGeom prst="roundRect">
            <a:avLst>
              <a:gd name="adj" fmla="val 44444"/>
            </a:avLst>
          </a:prstGeom>
          <a:solidFill>
            <a:srgbClr val="35C5F0"/>
          </a:solidFill>
          <a:ln w="0">
            <a:noFill/>
            <a:prstDash val="solid"/>
          </a:ln>
        </p:spPr>
      </p:sp>
      <p:sp>
        <p:nvSpPr>
          <p:cNvPr id="20" name="animate-wave-7">
            <a:extLst>
              <a:ext uri="{FF2B5EF4-FFF2-40B4-BE49-F238E27FC236}">
                <a16:creationId xmlns:a16="http://schemas.microsoft.com/office/drawing/2014/main" id="{F9C8CC25-477F-4B91-B07E-711C1F18F81C}"/>
              </a:ext>
            </a:extLst>
          </p:cNvPr>
          <p:cNvSpPr>
            <a:spLocks noGrp="1"/>
          </p:cNvSpPr>
          <p:nvPr/>
        </p:nvSpPr>
        <p:spPr>
          <a:xfrm>
            <a:off x="8048625" y="3848100"/>
            <a:ext cx="171450" cy="533400"/>
          </a:xfrm>
          <a:prstGeom prst="roundRect">
            <a:avLst>
              <a:gd name="adj" fmla="val 44444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21" name="animate-wave-8">
            <a:extLst>
              <a:ext uri="{FF2B5EF4-FFF2-40B4-BE49-F238E27FC236}">
                <a16:creationId xmlns:a16="http://schemas.microsoft.com/office/drawing/2014/main" id="{FFD198C3-C7E3-4AC9-AE1E-DB6E27D32DD3}"/>
              </a:ext>
            </a:extLst>
          </p:cNvPr>
          <p:cNvSpPr>
            <a:spLocks noGrp="1"/>
          </p:cNvSpPr>
          <p:nvPr/>
        </p:nvSpPr>
        <p:spPr>
          <a:xfrm>
            <a:off x="8496300" y="3648075"/>
            <a:ext cx="171450" cy="933450"/>
          </a:xfrm>
          <a:prstGeom prst="roundRect">
            <a:avLst>
              <a:gd name="adj" fmla="val 44444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22" name="animate-wave-9">
            <a:extLst>
              <a:ext uri="{FF2B5EF4-FFF2-40B4-BE49-F238E27FC236}">
                <a16:creationId xmlns:a16="http://schemas.microsoft.com/office/drawing/2014/main" id="{C37E8055-3024-4105-83CF-F1E57BA7B4B7}"/>
              </a:ext>
            </a:extLst>
          </p:cNvPr>
          <p:cNvSpPr>
            <a:spLocks noGrp="1"/>
          </p:cNvSpPr>
          <p:nvPr/>
        </p:nvSpPr>
        <p:spPr>
          <a:xfrm>
            <a:off x="8943975" y="3905250"/>
            <a:ext cx="171450" cy="419100"/>
          </a:xfrm>
          <a:prstGeom prst="roundRect">
            <a:avLst>
              <a:gd name="adj" fmla="val 44444"/>
            </a:avLst>
          </a:prstGeom>
          <a:solidFill>
            <a:srgbClr val="35C5F0"/>
          </a:solidFill>
          <a:ln w="0">
            <a:noFill/>
            <a:prstDash val="solid"/>
          </a:ln>
        </p:spPr>
      </p:sp>
      <p:sp>
        <p:nvSpPr>
          <p:cNvPr id="23" name="animate-wave-10">
            <a:extLst>
              <a:ext uri="{FF2B5EF4-FFF2-40B4-BE49-F238E27FC236}">
                <a16:creationId xmlns:a16="http://schemas.microsoft.com/office/drawing/2014/main" id="{3424969C-6402-4546-B67E-69253B6571DB}"/>
              </a:ext>
            </a:extLst>
          </p:cNvPr>
          <p:cNvSpPr>
            <a:spLocks noGrp="1"/>
          </p:cNvSpPr>
          <p:nvPr/>
        </p:nvSpPr>
        <p:spPr>
          <a:xfrm>
            <a:off x="9391650" y="3733800"/>
            <a:ext cx="171450" cy="762000"/>
          </a:xfrm>
          <a:prstGeom prst="roundRect">
            <a:avLst>
              <a:gd name="adj" fmla="val 44444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24" name="animate-wave-11">
            <a:extLst>
              <a:ext uri="{FF2B5EF4-FFF2-40B4-BE49-F238E27FC236}">
                <a16:creationId xmlns:a16="http://schemas.microsoft.com/office/drawing/2014/main" id="{358EED55-1CE6-4558-98B9-62807096FA7A}"/>
              </a:ext>
            </a:extLst>
          </p:cNvPr>
          <p:cNvSpPr>
            <a:spLocks noGrp="1"/>
          </p:cNvSpPr>
          <p:nvPr/>
        </p:nvSpPr>
        <p:spPr>
          <a:xfrm>
            <a:off x="9839325" y="3943350"/>
            <a:ext cx="171450" cy="342900"/>
          </a:xfrm>
          <a:prstGeom prst="roundRect">
            <a:avLst>
              <a:gd name="adj" fmla="val 44444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25" name="animate-listening">
            <a:extLst>
              <a:ext uri="{FF2B5EF4-FFF2-40B4-BE49-F238E27FC236}">
                <a16:creationId xmlns:a16="http://schemas.microsoft.com/office/drawing/2014/main" id="{5432EEF7-2C12-49C2-8AD6-C2286CF71D17}"/>
              </a:ext>
            </a:extLst>
          </p:cNvPr>
          <p:cNvSpPr>
            <a:spLocks noGrp="1"/>
          </p:cNvSpPr>
          <p:nvPr/>
        </p:nvSpPr>
        <p:spPr>
          <a:xfrm>
            <a:off x="4857750" y="476250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5E8FF"/>
                </a:solidFill>
              </a:defRPr>
            </a:pPr>
            <a:r>
              <a:rPr sz="1050" b="1">
                <a:solidFill>
                  <a:srgbClr val="C5E8FF"/>
                </a:solidFill>
              </a:rPr>
              <a:t>LISTENING • SPEECH DETECTED</a:t>
            </a:r>
          </a:p>
        </p:txBody>
      </p:sp>
      <p:sp>
        <p:nvSpPr>
          <p:cNvPr id="26" name="subtitle-bg">
            <a:extLst>
              <a:ext uri="{FF2B5EF4-FFF2-40B4-BE49-F238E27FC236}">
                <a16:creationId xmlns:a16="http://schemas.microsoft.com/office/drawing/2014/main" id="{A94B9AF8-C26E-4756-8223-C4A745C669FB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27" name="subtitle-text">
            <a:extLst>
              <a:ext uri="{FF2B5EF4-FFF2-40B4-BE49-F238E27FC236}">
                <a16:creationId xmlns:a16="http://schemas.microsoft.com/office/drawing/2014/main" id="{EBC6A397-960C-4121-A8AB-1B2EA1B63A2F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“Counted fifteen boxes of Nitrile Safety Gloves at Rack A-01.”</a:t>
            </a:r>
          </a:p>
        </p:txBody>
      </p:sp>
      <p:pic>
        <p:nvPicPr>
          <p:cNvPr id="6" name="narration-03">
            <a:hlinkClick r:id="" action="ppaction://media"/>
            <a:extLst>
              <a:ext uri="{FF2B5EF4-FFF2-40B4-BE49-F238E27FC236}">
                <a16:creationId xmlns:a16="http://schemas.microsoft.com/office/drawing/2014/main" id="{26721ED9-619B-70B5-9000-1E9F85B4AA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77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>
        <p:fade/>
      </p:transition>
    </mc:Choice>
    <mc:Fallback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5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nimate-eyebrow-AI clarification">
            <a:extLst>
              <a:ext uri="{FF2B5EF4-FFF2-40B4-BE49-F238E27FC236}">
                <a16:creationId xmlns:a16="http://schemas.microsoft.com/office/drawing/2014/main" id="{27D6B8E6-89A6-44D9-9026-E7CA7D922E51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46BFD"/>
                </a:solidFill>
              </a:defRPr>
            </a:pPr>
            <a:r>
              <a:rPr sz="975" b="1">
                <a:solidFill>
                  <a:srgbClr val="246BFD"/>
                </a:solidFill>
              </a:rPr>
              <a:t>AI CLARIFICATION</a:t>
            </a:r>
          </a:p>
        </p:txBody>
      </p:sp>
      <p:sp>
        <p:nvSpPr>
          <p:cNvPr id="2" name="animate-title">
            <a:extLst>
              <a:ext uri="{FF2B5EF4-FFF2-40B4-BE49-F238E27FC236}">
                <a16:creationId xmlns:a16="http://schemas.microsoft.com/office/drawing/2014/main" id="{531D5357-970F-4586-B9A6-B012C211D5BC}"/>
              </a:ext>
            </a:extLst>
          </p:cNvPr>
          <p:cNvSpPr>
            <a:spLocks noGrp="1"/>
          </p:cNvSpPr>
          <p:nvPr/>
        </p:nvSpPr>
        <p:spPr>
          <a:xfrm>
            <a:off x="628650" y="762000"/>
            <a:ext cx="933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2A52"/>
                </a:solidFill>
              </a:defRPr>
            </a:pPr>
            <a:r>
              <a:rPr sz="3000" b="1">
                <a:solidFill>
                  <a:srgbClr val="102A52"/>
                </a:solidFill>
              </a:rPr>
              <a:t>The AI asks only for missing information</a:t>
            </a:r>
          </a:p>
        </p:txBody>
      </p:sp>
      <p:sp>
        <p:nvSpPr>
          <p:cNvPr id="3" name="known-card">
            <a:extLst>
              <a:ext uri="{FF2B5EF4-FFF2-40B4-BE49-F238E27FC236}">
                <a16:creationId xmlns:a16="http://schemas.microsoft.com/office/drawing/2014/main" id="{AB56A9FB-5A3E-4DB0-88BA-4ADC4AC78F43}"/>
              </a:ext>
            </a:extLst>
          </p:cNvPr>
          <p:cNvSpPr>
            <a:spLocks noGrp="1"/>
          </p:cNvSpPr>
          <p:nvPr/>
        </p:nvSpPr>
        <p:spPr>
          <a:xfrm>
            <a:off x="628650" y="1581150"/>
            <a:ext cx="10934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4E1F1"/>
            </a:solidFill>
            <a:prstDash val="solid"/>
          </a:ln>
        </p:spPr>
      </p:sp>
      <p:sp>
        <p:nvSpPr>
          <p:cNvPr id="4" name="animate-known-label">
            <a:extLst>
              <a:ext uri="{FF2B5EF4-FFF2-40B4-BE49-F238E27FC236}">
                <a16:creationId xmlns:a16="http://schemas.microsoft.com/office/drawing/2014/main" id="{6CC2CB18-22FD-41EB-81E3-C622207BFDC8}"/>
              </a:ext>
            </a:extLst>
          </p:cNvPr>
          <p:cNvSpPr>
            <a:spLocks noGrp="1"/>
          </p:cNvSpPr>
          <p:nvPr/>
        </p:nvSpPr>
        <p:spPr>
          <a:xfrm>
            <a:off x="895350" y="1809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2966F"/>
                </a:solidFill>
              </a:defRPr>
            </a:pPr>
            <a:r>
              <a:rPr sz="900" b="1">
                <a:solidFill>
                  <a:srgbClr val="12966F"/>
                </a:solidFill>
              </a:rPr>
              <a:t>ALREADY UNDERSTOOD</a:t>
            </a:r>
          </a:p>
        </p:txBody>
      </p:sp>
      <p:sp>
        <p:nvSpPr>
          <p:cNvPr id="5" name="animate-known">
            <a:extLst>
              <a:ext uri="{FF2B5EF4-FFF2-40B4-BE49-F238E27FC236}">
                <a16:creationId xmlns:a16="http://schemas.microsoft.com/office/drawing/2014/main" id="{B8528D86-9C68-4772-8A35-FAB9AB73C1ED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1009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2A52"/>
                </a:solidFill>
              </a:defRPr>
            </a:pPr>
            <a:r>
              <a:rPr sz="1725" b="1">
                <a:solidFill>
                  <a:srgbClr val="102A52"/>
                </a:solidFill>
              </a:rPr>
              <a:t>Product: Nitrile Safety Gloves   •   Quantity: 15 boxes   •   Location: Rack A-01</a:t>
            </a:r>
          </a:p>
        </p:txBody>
      </p:sp>
      <p:sp>
        <p:nvSpPr>
          <p:cNvPr id="6" name="question-card">
            <a:extLst>
              <a:ext uri="{FF2B5EF4-FFF2-40B4-BE49-F238E27FC236}">
                <a16:creationId xmlns:a16="http://schemas.microsoft.com/office/drawing/2014/main" id="{6B50C972-53CE-4336-96CB-D78378ACF146}"/>
              </a:ext>
            </a:extLst>
          </p:cNvPr>
          <p:cNvSpPr>
            <a:spLocks noGrp="1"/>
          </p:cNvSpPr>
          <p:nvPr/>
        </p:nvSpPr>
        <p:spPr>
          <a:xfrm>
            <a:off x="628650" y="3143250"/>
            <a:ext cx="7048500" cy="2247900"/>
          </a:xfrm>
          <a:prstGeom prst="roundRect">
            <a:avLst>
              <a:gd name="adj" fmla="val 3390"/>
            </a:avLst>
          </a:prstGeom>
          <a:solidFill>
            <a:srgbClr val="FFF7E8"/>
          </a:solidFill>
          <a:ln w="9525">
            <a:solidFill>
              <a:srgbClr val="F1BE6C"/>
            </a:solidFill>
            <a:prstDash val="solid"/>
          </a:ln>
        </p:spPr>
      </p:sp>
      <p:sp>
        <p:nvSpPr>
          <p:cNvPr id="7" name="animate-question-label">
            <a:extLst>
              <a:ext uri="{FF2B5EF4-FFF2-40B4-BE49-F238E27FC236}">
                <a16:creationId xmlns:a16="http://schemas.microsoft.com/office/drawing/2014/main" id="{F5C0C558-B991-4E0D-B4DB-9EDB14BC65DA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88A00"/>
                </a:solidFill>
              </a:defRPr>
            </a:pPr>
            <a:r>
              <a:rPr sz="900" b="1">
                <a:solidFill>
                  <a:srgbClr val="E88A00"/>
                </a:solidFill>
              </a:rPr>
              <a:t>AI ASKS</a:t>
            </a:r>
          </a:p>
        </p:txBody>
      </p:sp>
      <p:sp>
        <p:nvSpPr>
          <p:cNvPr id="8" name="animate-question">
            <a:extLst>
              <a:ext uri="{FF2B5EF4-FFF2-40B4-BE49-F238E27FC236}">
                <a16:creationId xmlns:a16="http://schemas.microsoft.com/office/drawing/2014/main" id="{865F0879-79CA-45EE-B66B-79B99A9AE7DF}"/>
              </a:ext>
            </a:extLst>
          </p:cNvPr>
          <p:cNvSpPr>
            <a:spLocks noGrp="1"/>
          </p:cNvSpPr>
          <p:nvPr/>
        </p:nvSpPr>
        <p:spPr>
          <a:xfrm>
            <a:off x="914400" y="38290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67420B"/>
                </a:solidFill>
              </a:defRPr>
            </a:pPr>
            <a:r>
              <a:rPr sz="2025" b="1">
                <a:solidFill>
                  <a:srgbClr val="67420B"/>
                </a:solidFill>
              </a:rPr>
              <a:t>“What inventory action did you perform?”</a:t>
            </a:r>
          </a:p>
        </p:txBody>
      </p:sp>
      <p:sp>
        <p:nvSpPr>
          <p:cNvPr id="9" name="answer-card">
            <a:extLst>
              <a:ext uri="{FF2B5EF4-FFF2-40B4-BE49-F238E27FC236}">
                <a16:creationId xmlns:a16="http://schemas.microsoft.com/office/drawing/2014/main" id="{B2F6989C-10A0-4706-8E2E-36FFB0F9F5FD}"/>
              </a:ext>
            </a:extLst>
          </p:cNvPr>
          <p:cNvSpPr>
            <a:spLocks noGrp="1"/>
          </p:cNvSpPr>
          <p:nvPr/>
        </p:nvSpPr>
        <p:spPr>
          <a:xfrm>
            <a:off x="8039100" y="3143250"/>
            <a:ext cx="3524250" cy="2247900"/>
          </a:xfrm>
          <a:prstGeom prst="roundRect">
            <a:avLst>
              <a:gd name="adj" fmla="val 3390"/>
            </a:avLst>
          </a:prstGeom>
          <a:solidFill>
            <a:srgbClr val="EAF8F3"/>
          </a:solidFill>
          <a:ln w="9525">
            <a:solidFill>
              <a:srgbClr val="8AD9BE"/>
            </a:solidFill>
            <a:prstDash val="solid"/>
          </a:ln>
        </p:spPr>
      </p:sp>
      <p:sp>
        <p:nvSpPr>
          <p:cNvPr id="10" name="animate-answer-label">
            <a:extLst>
              <a:ext uri="{FF2B5EF4-FFF2-40B4-BE49-F238E27FC236}">
                <a16:creationId xmlns:a16="http://schemas.microsoft.com/office/drawing/2014/main" id="{75C3D101-C6B1-4890-8B30-D0523E3E066F}"/>
              </a:ext>
            </a:extLst>
          </p:cNvPr>
          <p:cNvSpPr>
            <a:spLocks noGrp="1"/>
          </p:cNvSpPr>
          <p:nvPr/>
        </p:nvSpPr>
        <p:spPr>
          <a:xfrm>
            <a:off x="8324850" y="342900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2966F"/>
                </a:solidFill>
              </a:defRPr>
            </a:pPr>
            <a:r>
              <a:rPr sz="900" b="1">
                <a:solidFill>
                  <a:srgbClr val="12966F"/>
                </a:solidFill>
              </a:rPr>
              <a:t>WORKER ANSWERS</a:t>
            </a:r>
          </a:p>
        </p:txBody>
      </p:sp>
      <p:sp>
        <p:nvSpPr>
          <p:cNvPr id="11" name="animate-answer">
            <a:extLst>
              <a:ext uri="{FF2B5EF4-FFF2-40B4-BE49-F238E27FC236}">
                <a16:creationId xmlns:a16="http://schemas.microsoft.com/office/drawing/2014/main" id="{A888A48F-F399-4399-9EE6-42C38490ABBA}"/>
              </a:ext>
            </a:extLst>
          </p:cNvPr>
          <p:cNvSpPr>
            <a:spLocks noGrp="1"/>
          </p:cNvSpPr>
          <p:nvPr/>
        </p:nvSpPr>
        <p:spPr>
          <a:xfrm>
            <a:off x="8324850" y="38862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52"/>
                </a:solidFill>
              </a:defRPr>
            </a:pPr>
            <a:r>
              <a:rPr sz="2325" b="1">
                <a:solidFill>
                  <a:srgbClr val="102A52"/>
                </a:solidFill>
              </a:rPr>
              <a:t>“Cycle count.”</a:t>
            </a:r>
          </a:p>
        </p:txBody>
      </p:sp>
      <p:sp>
        <p:nvSpPr>
          <p:cNvPr id="12" name="animate-merge">
            <a:extLst>
              <a:ext uri="{FF2B5EF4-FFF2-40B4-BE49-F238E27FC236}">
                <a16:creationId xmlns:a16="http://schemas.microsoft.com/office/drawing/2014/main" id="{2B0B8F14-5BA9-4D81-98EE-00EE7A384B4C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2724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F86A5"/>
                </a:solidFill>
              </a:defRPr>
            </a:pPr>
            <a:r>
              <a:rPr sz="1200" b="1">
                <a:solidFill>
                  <a:srgbClr val="6F86A5"/>
                </a:solidFill>
              </a:rPr>
              <a:t>AI keeps all previous details and merges only the missing answer.</a:t>
            </a:r>
          </a:p>
        </p:txBody>
      </p:sp>
      <p:sp>
        <p:nvSpPr>
          <p:cNvPr id="13" name="subtitle-bg">
            <a:extLst>
              <a:ext uri="{FF2B5EF4-FFF2-40B4-BE49-F238E27FC236}">
                <a16:creationId xmlns:a16="http://schemas.microsoft.com/office/drawing/2014/main" id="{CA1B8437-AD0E-43E0-93AA-3D7E8D1B07FA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14" name="subtitle-text">
            <a:extLst>
              <a:ext uri="{FF2B5EF4-FFF2-40B4-BE49-F238E27FC236}">
                <a16:creationId xmlns:a16="http://schemas.microsoft.com/office/drawing/2014/main" id="{5D68BE69-12A7-4057-8CCE-063D97EE9FDE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The worker never has to repeat information the AI has already understood.</a:t>
            </a:r>
          </a:p>
        </p:txBody>
      </p:sp>
      <p:pic>
        <p:nvPicPr>
          <p:cNvPr id="16" name="narration-04">
            <a:hlinkClick r:id="" action="ppaction://media"/>
            <a:extLst>
              <a:ext uri="{FF2B5EF4-FFF2-40B4-BE49-F238E27FC236}">
                <a16:creationId xmlns:a16="http://schemas.microsoft.com/office/drawing/2014/main" id="{97346F36-1D43-3DA4-7EEE-1A2CE65005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646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>
        <p:fade/>
      </p:transition>
    </mc:Choice>
    <mc:Fallback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25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nimate-eyebrow-AI understanding">
            <a:extLst>
              <a:ext uri="{FF2B5EF4-FFF2-40B4-BE49-F238E27FC236}">
                <a16:creationId xmlns:a16="http://schemas.microsoft.com/office/drawing/2014/main" id="{4097BF0F-A5FC-4A99-987F-656E5BDB25B7}"/>
              </a:ext>
            </a:extLst>
          </p:cNvPr>
          <p:cNvSpPr>
            <a:spLocks noGrp="1"/>
          </p:cNvSpPr>
          <p:nvPr/>
        </p:nvSpPr>
        <p:spPr>
          <a:xfrm>
            <a:off x="628650" y="34290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5C5F0"/>
                </a:solidFill>
              </a:defRPr>
            </a:pPr>
            <a:r>
              <a:rPr sz="975" b="1">
                <a:solidFill>
                  <a:srgbClr val="35C5F0"/>
                </a:solidFill>
              </a:rPr>
              <a:t>AI UNDERSTANDING</a:t>
            </a:r>
          </a:p>
        </p:txBody>
      </p:sp>
      <p:sp>
        <p:nvSpPr>
          <p:cNvPr id="2" name="animate-title">
            <a:extLst>
              <a:ext uri="{FF2B5EF4-FFF2-40B4-BE49-F238E27FC236}">
                <a16:creationId xmlns:a16="http://schemas.microsoft.com/office/drawing/2014/main" id="{D01E7CF9-F1DB-42E3-BF5A-3843AB8B8655}"/>
              </a:ext>
            </a:extLst>
          </p:cNvPr>
          <p:cNvSpPr>
            <a:spLocks noGrp="1"/>
          </p:cNvSpPr>
          <p:nvPr/>
        </p:nvSpPr>
        <p:spPr>
          <a:xfrm>
            <a:off x="628650" y="7048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Voice becomes structured inventory data</a:t>
            </a:r>
          </a:p>
        </p:txBody>
      </p:sp>
      <p:sp>
        <p:nvSpPr>
          <p:cNvPr id="3" name="animate-field-0">
            <a:extLst>
              <a:ext uri="{FF2B5EF4-FFF2-40B4-BE49-F238E27FC236}">
                <a16:creationId xmlns:a16="http://schemas.microsoft.com/office/drawing/2014/main" id="{3413B7F4-0A25-452C-86FB-46C8FA389DF4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20764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E4F3"/>
            </a:solidFill>
            <a:prstDash val="solid"/>
          </a:ln>
        </p:spPr>
      </p:sp>
      <p:sp>
        <p:nvSpPr>
          <p:cNvPr id="4" name="animate-field-accent-0">
            <a:extLst>
              <a:ext uri="{FF2B5EF4-FFF2-40B4-BE49-F238E27FC236}">
                <a16:creationId xmlns:a16="http://schemas.microsoft.com/office/drawing/2014/main" id="{BAE41080-D2BB-40AB-85DB-757FB61A9248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2076450" cy="76200"/>
          </a:xfrm>
          <a:prstGeom prst="roundRect">
            <a:avLst>
              <a:gd name="adj" fmla="val 5000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5" name="animate-field-label-0">
            <a:extLst>
              <a:ext uri="{FF2B5EF4-FFF2-40B4-BE49-F238E27FC236}">
                <a16:creationId xmlns:a16="http://schemas.microsoft.com/office/drawing/2014/main" id="{AD76F14B-875A-4F76-9E9A-684C942FED77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F86A5"/>
                </a:solidFill>
              </a:defRPr>
            </a:pPr>
            <a:r>
              <a:rPr sz="825" b="1">
                <a:solidFill>
                  <a:srgbClr val="6F86A5"/>
                </a:solidFill>
              </a:rPr>
              <a:t>ACTION</a:t>
            </a:r>
          </a:p>
        </p:txBody>
      </p:sp>
      <p:sp>
        <p:nvSpPr>
          <p:cNvPr id="6" name="animate-field-value-0">
            <a:extLst>
              <a:ext uri="{FF2B5EF4-FFF2-40B4-BE49-F238E27FC236}">
                <a16:creationId xmlns:a16="http://schemas.microsoft.com/office/drawing/2014/main" id="{70A6FF5E-D604-432A-8DA4-C4C2C9064638}"/>
              </a:ext>
            </a:extLst>
          </p:cNvPr>
          <p:cNvSpPr>
            <a:spLocks noGrp="1"/>
          </p:cNvSpPr>
          <p:nvPr/>
        </p:nvSpPr>
        <p:spPr>
          <a:xfrm>
            <a:off x="704850" y="2381250"/>
            <a:ext cx="1733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A52"/>
                </a:solidFill>
              </a:defRPr>
            </a:pPr>
            <a:r>
              <a:rPr sz="1425" b="1">
                <a:solidFill>
                  <a:srgbClr val="102A52"/>
                </a:solidFill>
              </a:rPr>
              <a:t>Cycle count</a:t>
            </a:r>
          </a:p>
        </p:txBody>
      </p:sp>
      <p:sp>
        <p:nvSpPr>
          <p:cNvPr id="7" name="animate-field-1">
            <a:extLst>
              <a:ext uri="{FF2B5EF4-FFF2-40B4-BE49-F238E27FC236}">
                <a16:creationId xmlns:a16="http://schemas.microsoft.com/office/drawing/2014/main" id="{86F274FA-8C4E-40CF-A4CD-4D9D0EB6B255}"/>
              </a:ext>
            </a:extLst>
          </p:cNvPr>
          <p:cNvSpPr>
            <a:spLocks noGrp="1"/>
          </p:cNvSpPr>
          <p:nvPr/>
        </p:nvSpPr>
        <p:spPr>
          <a:xfrm>
            <a:off x="2838450" y="1752600"/>
            <a:ext cx="20764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E4F3"/>
            </a:solidFill>
            <a:prstDash val="solid"/>
          </a:ln>
        </p:spPr>
      </p:sp>
      <p:sp>
        <p:nvSpPr>
          <p:cNvPr id="8" name="animate-field-accent-1">
            <a:extLst>
              <a:ext uri="{FF2B5EF4-FFF2-40B4-BE49-F238E27FC236}">
                <a16:creationId xmlns:a16="http://schemas.microsoft.com/office/drawing/2014/main" id="{DBA0DCA9-385A-4863-8514-0C4049CBCB34}"/>
              </a:ext>
            </a:extLst>
          </p:cNvPr>
          <p:cNvSpPr>
            <a:spLocks noGrp="1"/>
          </p:cNvSpPr>
          <p:nvPr/>
        </p:nvSpPr>
        <p:spPr>
          <a:xfrm>
            <a:off x="2838450" y="1752600"/>
            <a:ext cx="2076450" cy="76200"/>
          </a:xfrm>
          <a:prstGeom prst="roundRect">
            <a:avLst>
              <a:gd name="adj" fmla="val 50000"/>
            </a:avLst>
          </a:prstGeom>
          <a:solidFill>
            <a:srgbClr val="7658E8"/>
          </a:solidFill>
          <a:ln w="0">
            <a:noFill/>
            <a:prstDash val="solid"/>
          </a:ln>
        </p:spPr>
      </p:sp>
      <p:sp>
        <p:nvSpPr>
          <p:cNvPr id="9" name="animate-field-label-1">
            <a:extLst>
              <a:ext uri="{FF2B5EF4-FFF2-40B4-BE49-F238E27FC236}">
                <a16:creationId xmlns:a16="http://schemas.microsoft.com/office/drawing/2014/main" id="{45FA5E8C-E024-4DBC-8584-CF6D07B7C0AF}"/>
              </a:ext>
            </a:extLst>
          </p:cNvPr>
          <p:cNvSpPr>
            <a:spLocks noGrp="1"/>
          </p:cNvSpPr>
          <p:nvPr/>
        </p:nvSpPr>
        <p:spPr>
          <a:xfrm>
            <a:off x="3009900" y="203835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F86A5"/>
                </a:solidFill>
              </a:defRPr>
            </a:pPr>
            <a:r>
              <a:rPr sz="825" b="1">
                <a:solidFill>
                  <a:srgbClr val="6F86A5"/>
                </a:solidFill>
              </a:rPr>
              <a:t>PRODUCT</a:t>
            </a:r>
          </a:p>
        </p:txBody>
      </p:sp>
      <p:sp>
        <p:nvSpPr>
          <p:cNvPr id="10" name="animate-field-value-1">
            <a:extLst>
              <a:ext uri="{FF2B5EF4-FFF2-40B4-BE49-F238E27FC236}">
                <a16:creationId xmlns:a16="http://schemas.microsoft.com/office/drawing/2014/main" id="{A1BA5346-A62D-491F-AC8D-A3895E6879E0}"/>
              </a:ext>
            </a:extLst>
          </p:cNvPr>
          <p:cNvSpPr>
            <a:spLocks noGrp="1"/>
          </p:cNvSpPr>
          <p:nvPr/>
        </p:nvSpPr>
        <p:spPr>
          <a:xfrm>
            <a:off x="3009900" y="2381250"/>
            <a:ext cx="1733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A52"/>
                </a:solidFill>
              </a:defRPr>
            </a:pPr>
            <a:r>
              <a:rPr sz="1425" b="1">
                <a:solidFill>
                  <a:srgbClr val="102A52"/>
                </a:solidFill>
              </a:rPr>
              <a:t>Nitrile Safety Gloves</a:t>
            </a:r>
          </a:p>
        </p:txBody>
      </p:sp>
      <p:sp>
        <p:nvSpPr>
          <p:cNvPr id="11" name="animate-field-2">
            <a:extLst>
              <a:ext uri="{FF2B5EF4-FFF2-40B4-BE49-F238E27FC236}">
                <a16:creationId xmlns:a16="http://schemas.microsoft.com/office/drawing/2014/main" id="{D9912AD6-71EA-48AD-96A5-5216EDC466FA}"/>
              </a:ext>
            </a:extLst>
          </p:cNvPr>
          <p:cNvSpPr>
            <a:spLocks noGrp="1"/>
          </p:cNvSpPr>
          <p:nvPr/>
        </p:nvSpPr>
        <p:spPr>
          <a:xfrm>
            <a:off x="5143500" y="1752600"/>
            <a:ext cx="20764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E4F3"/>
            </a:solidFill>
            <a:prstDash val="solid"/>
          </a:ln>
        </p:spPr>
      </p:sp>
      <p:sp>
        <p:nvSpPr>
          <p:cNvPr id="12" name="animate-field-accent-2">
            <a:extLst>
              <a:ext uri="{FF2B5EF4-FFF2-40B4-BE49-F238E27FC236}">
                <a16:creationId xmlns:a16="http://schemas.microsoft.com/office/drawing/2014/main" id="{495ED787-4705-4250-8F54-7D3269317D71}"/>
              </a:ext>
            </a:extLst>
          </p:cNvPr>
          <p:cNvSpPr>
            <a:spLocks noGrp="1"/>
          </p:cNvSpPr>
          <p:nvPr/>
        </p:nvSpPr>
        <p:spPr>
          <a:xfrm>
            <a:off x="5143500" y="1752600"/>
            <a:ext cx="2076450" cy="76200"/>
          </a:xfrm>
          <a:prstGeom prst="roundRect">
            <a:avLst>
              <a:gd name="adj" fmla="val 50000"/>
            </a:avLst>
          </a:prstGeom>
          <a:solidFill>
            <a:srgbClr val="12966F"/>
          </a:solidFill>
          <a:ln w="0">
            <a:noFill/>
            <a:prstDash val="solid"/>
          </a:ln>
        </p:spPr>
      </p:sp>
      <p:sp>
        <p:nvSpPr>
          <p:cNvPr id="13" name="animate-field-label-2">
            <a:extLst>
              <a:ext uri="{FF2B5EF4-FFF2-40B4-BE49-F238E27FC236}">
                <a16:creationId xmlns:a16="http://schemas.microsoft.com/office/drawing/2014/main" id="{018FD4C5-C6F0-4AC2-9A16-69A7A3B52484}"/>
              </a:ext>
            </a:extLst>
          </p:cNvPr>
          <p:cNvSpPr>
            <a:spLocks noGrp="1"/>
          </p:cNvSpPr>
          <p:nvPr/>
        </p:nvSpPr>
        <p:spPr>
          <a:xfrm>
            <a:off x="5314950" y="203835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F86A5"/>
                </a:solidFill>
              </a:defRPr>
            </a:pPr>
            <a:r>
              <a:rPr sz="825" b="1">
                <a:solidFill>
                  <a:srgbClr val="6F86A5"/>
                </a:solidFill>
              </a:rPr>
              <a:t>QUANTITY</a:t>
            </a:r>
          </a:p>
        </p:txBody>
      </p:sp>
      <p:sp>
        <p:nvSpPr>
          <p:cNvPr id="14" name="animate-field-value-2">
            <a:extLst>
              <a:ext uri="{FF2B5EF4-FFF2-40B4-BE49-F238E27FC236}">
                <a16:creationId xmlns:a16="http://schemas.microsoft.com/office/drawing/2014/main" id="{B086E727-71C8-4EDC-A5BC-49F1B27B65B9}"/>
              </a:ext>
            </a:extLst>
          </p:cNvPr>
          <p:cNvSpPr>
            <a:spLocks noGrp="1"/>
          </p:cNvSpPr>
          <p:nvPr/>
        </p:nvSpPr>
        <p:spPr>
          <a:xfrm>
            <a:off x="5314950" y="2381250"/>
            <a:ext cx="1733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A52"/>
                </a:solidFill>
              </a:defRPr>
            </a:pPr>
            <a:r>
              <a:rPr sz="1425" b="1">
                <a:solidFill>
                  <a:srgbClr val="102A52"/>
                </a:solidFill>
              </a:rPr>
              <a:t>15 boxes</a:t>
            </a:r>
          </a:p>
        </p:txBody>
      </p:sp>
      <p:sp>
        <p:nvSpPr>
          <p:cNvPr id="15" name="animate-field-3">
            <a:extLst>
              <a:ext uri="{FF2B5EF4-FFF2-40B4-BE49-F238E27FC236}">
                <a16:creationId xmlns:a16="http://schemas.microsoft.com/office/drawing/2014/main" id="{BB1DEB3F-DA08-4894-ACA5-928E791350CB}"/>
              </a:ext>
            </a:extLst>
          </p:cNvPr>
          <p:cNvSpPr>
            <a:spLocks noGrp="1"/>
          </p:cNvSpPr>
          <p:nvPr/>
        </p:nvSpPr>
        <p:spPr>
          <a:xfrm>
            <a:off x="7448550" y="1752600"/>
            <a:ext cx="20764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E4F3"/>
            </a:solidFill>
            <a:prstDash val="solid"/>
          </a:ln>
        </p:spPr>
      </p:sp>
      <p:sp>
        <p:nvSpPr>
          <p:cNvPr id="16" name="animate-field-accent-3">
            <a:extLst>
              <a:ext uri="{FF2B5EF4-FFF2-40B4-BE49-F238E27FC236}">
                <a16:creationId xmlns:a16="http://schemas.microsoft.com/office/drawing/2014/main" id="{DA8B73D3-2C32-41C5-9B27-9119D0C9A893}"/>
              </a:ext>
            </a:extLst>
          </p:cNvPr>
          <p:cNvSpPr>
            <a:spLocks noGrp="1"/>
          </p:cNvSpPr>
          <p:nvPr/>
        </p:nvSpPr>
        <p:spPr>
          <a:xfrm>
            <a:off x="7448550" y="1752600"/>
            <a:ext cx="2076450" cy="76200"/>
          </a:xfrm>
          <a:prstGeom prst="roundRect">
            <a:avLst>
              <a:gd name="adj" fmla="val 50000"/>
            </a:avLst>
          </a:prstGeom>
          <a:solidFill>
            <a:srgbClr val="E88A00"/>
          </a:solidFill>
          <a:ln w="0">
            <a:noFill/>
            <a:prstDash val="solid"/>
          </a:ln>
        </p:spPr>
      </p:sp>
      <p:sp>
        <p:nvSpPr>
          <p:cNvPr id="17" name="animate-field-label-3">
            <a:extLst>
              <a:ext uri="{FF2B5EF4-FFF2-40B4-BE49-F238E27FC236}">
                <a16:creationId xmlns:a16="http://schemas.microsoft.com/office/drawing/2014/main" id="{46739EA3-C7AB-4E3A-BA8A-CFFD580F2AFD}"/>
              </a:ext>
            </a:extLst>
          </p:cNvPr>
          <p:cNvSpPr>
            <a:spLocks noGrp="1"/>
          </p:cNvSpPr>
          <p:nvPr/>
        </p:nvSpPr>
        <p:spPr>
          <a:xfrm>
            <a:off x="7620000" y="203835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F86A5"/>
                </a:solidFill>
              </a:defRPr>
            </a:pPr>
            <a:r>
              <a:rPr sz="825" b="1">
                <a:solidFill>
                  <a:srgbClr val="6F86A5"/>
                </a:solidFill>
              </a:rPr>
              <a:t>LOCATION</a:t>
            </a:r>
          </a:p>
        </p:txBody>
      </p:sp>
      <p:sp>
        <p:nvSpPr>
          <p:cNvPr id="18" name="animate-field-value-3">
            <a:extLst>
              <a:ext uri="{FF2B5EF4-FFF2-40B4-BE49-F238E27FC236}">
                <a16:creationId xmlns:a16="http://schemas.microsoft.com/office/drawing/2014/main" id="{49A53C1C-8BAC-43CD-BF3A-48B2F0971BD6}"/>
              </a:ext>
            </a:extLst>
          </p:cNvPr>
          <p:cNvSpPr>
            <a:spLocks noGrp="1"/>
          </p:cNvSpPr>
          <p:nvPr/>
        </p:nvSpPr>
        <p:spPr>
          <a:xfrm>
            <a:off x="7620000" y="2381250"/>
            <a:ext cx="1733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A52"/>
                </a:solidFill>
              </a:defRPr>
            </a:pPr>
            <a:r>
              <a:rPr sz="1425" b="1">
                <a:solidFill>
                  <a:srgbClr val="102A52"/>
                </a:solidFill>
              </a:rPr>
              <a:t>Rack A-01</a:t>
            </a:r>
          </a:p>
        </p:txBody>
      </p:sp>
      <p:sp>
        <p:nvSpPr>
          <p:cNvPr id="19" name="animate-field-4">
            <a:extLst>
              <a:ext uri="{FF2B5EF4-FFF2-40B4-BE49-F238E27FC236}">
                <a16:creationId xmlns:a16="http://schemas.microsoft.com/office/drawing/2014/main" id="{2FD18325-08A0-4E39-94CA-57465CDD1821}"/>
              </a:ext>
            </a:extLst>
          </p:cNvPr>
          <p:cNvSpPr>
            <a:spLocks noGrp="1"/>
          </p:cNvSpPr>
          <p:nvPr/>
        </p:nvSpPr>
        <p:spPr>
          <a:xfrm>
            <a:off x="9753600" y="1752600"/>
            <a:ext cx="207645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8E4F3"/>
            </a:solidFill>
            <a:prstDash val="solid"/>
          </a:ln>
        </p:spPr>
      </p:sp>
      <p:sp>
        <p:nvSpPr>
          <p:cNvPr id="20" name="animate-field-accent-4">
            <a:extLst>
              <a:ext uri="{FF2B5EF4-FFF2-40B4-BE49-F238E27FC236}">
                <a16:creationId xmlns:a16="http://schemas.microsoft.com/office/drawing/2014/main" id="{F1D8A6C2-03C0-4BB4-8CF3-9B890CB8D700}"/>
              </a:ext>
            </a:extLst>
          </p:cNvPr>
          <p:cNvSpPr>
            <a:spLocks noGrp="1"/>
          </p:cNvSpPr>
          <p:nvPr/>
        </p:nvSpPr>
        <p:spPr>
          <a:xfrm>
            <a:off x="9753600" y="1752600"/>
            <a:ext cx="2076450" cy="76200"/>
          </a:xfrm>
          <a:prstGeom prst="roundRect">
            <a:avLst>
              <a:gd name="adj" fmla="val 50000"/>
            </a:avLst>
          </a:prstGeom>
          <a:solidFill>
            <a:srgbClr val="35C5F0"/>
          </a:solidFill>
          <a:ln w="0">
            <a:noFill/>
            <a:prstDash val="solid"/>
          </a:ln>
        </p:spPr>
      </p:sp>
      <p:sp>
        <p:nvSpPr>
          <p:cNvPr id="21" name="animate-field-label-4">
            <a:extLst>
              <a:ext uri="{FF2B5EF4-FFF2-40B4-BE49-F238E27FC236}">
                <a16:creationId xmlns:a16="http://schemas.microsoft.com/office/drawing/2014/main" id="{9E9661DC-99A5-4F46-888C-56843882EBE7}"/>
              </a:ext>
            </a:extLst>
          </p:cNvPr>
          <p:cNvSpPr>
            <a:spLocks noGrp="1"/>
          </p:cNvSpPr>
          <p:nvPr/>
        </p:nvSpPr>
        <p:spPr>
          <a:xfrm>
            <a:off x="9925050" y="203835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F86A5"/>
                </a:solidFill>
              </a:defRPr>
            </a:pPr>
            <a:r>
              <a:rPr sz="825" b="1">
                <a:solidFill>
                  <a:srgbClr val="6F86A5"/>
                </a:solidFill>
              </a:rPr>
              <a:t>CONDITION</a:t>
            </a:r>
          </a:p>
        </p:txBody>
      </p:sp>
      <p:sp>
        <p:nvSpPr>
          <p:cNvPr id="22" name="animate-field-value-4">
            <a:extLst>
              <a:ext uri="{FF2B5EF4-FFF2-40B4-BE49-F238E27FC236}">
                <a16:creationId xmlns:a16="http://schemas.microsoft.com/office/drawing/2014/main" id="{E4B85489-F785-4320-9C2C-881F76ABB060}"/>
              </a:ext>
            </a:extLst>
          </p:cNvPr>
          <p:cNvSpPr>
            <a:spLocks noGrp="1"/>
          </p:cNvSpPr>
          <p:nvPr/>
        </p:nvSpPr>
        <p:spPr>
          <a:xfrm>
            <a:off x="9925050" y="2381250"/>
            <a:ext cx="1733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02A52"/>
                </a:solidFill>
              </a:defRPr>
            </a:pPr>
            <a:r>
              <a:rPr sz="1425" b="1">
                <a:solidFill>
                  <a:srgbClr val="102A52"/>
                </a:solidFill>
              </a:rPr>
              <a:t>Good</a:t>
            </a:r>
          </a:p>
        </p:txBody>
      </p:sp>
      <p:sp>
        <p:nvSpPr>
          <p:cNvPr id="23" name="readback-card">
            <a:extLst>
              <a:ext uri="{FF2B5EF4-FFF2-40B4-BE49-F238E27FC236}">
                <a16:creationId xmlns:a16="http://schemas.microsoft.com/office/drawing/2014/main" id="{BC535BC0-75A1-4ACE-ADAC-94FF469B3E88}"/>
              </a:ext>
            </a:extLst>
          </p:cNvPr>
          <p:cNvSpPr>
            <a:spLocks noGrp="1"/>
          </p:cNvSpPr>
          <p:nvPr/>
        </p:nvSpPr>
        <p:spPr>
          <a:xfrm>
            <a:off x="1028700" y="3524250"/>
            <a:ext cx="10134600" cy="1524000"/>
          </a:xfrm>
          <a:prstGeom prst="roundRect">
            <a:avLst>
              <a:gd name="adj" fmla="val 5000"/>
            </a:avLst>
          </a:prstGeom>
          <a:solidFill>
            <a:srgbClr val="102C58"/>
          </a:solidFill>
          <a:ln w="9525">
            <a:solidFill>
              <a:srgbClr val="2E5C94"/>
            </a:solidFill>
            <a:prstDash val="solid"/>
          </a:ln>
        </p:spPr>
      </p:sp>
      <p:sp>
        <p:nvSpPr>
          <p:cNvPr id="24" name="animate-readback-label">
            <a:extLst>
              <a:ext uri="{FF2B5EF4-FFF2-40B4-BE49-F238E27FC236}">
                <a16:creationId xmlns:a16="http://schemas.microsoft.com/office/drawing/2014/main" id="{1FA7C58D-FAA9-44F0-AF1A-0C7E9B3D95F2}"/>
              </a:ext>
            </a:extLst>
          </p:cNvPr>
          <p:cNvSpPr>
            <a:spLocks noGrp="1"/>
          </p:cNvSpPr>
          <p:nvPr/>
        </p:nvSpPr>
        <p:spPr>
          <a:xfrm>
            <a:off x="1371600" y="37909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35C5F0"/>
                </a:solidFill>
              </a:defRPr>
            </a:pPr>
            <a:r>
              <a:rPr sz="900" b="1">
                <a:solidFill>
                  <a:srgbClr val="35C5F0"/>
                </a:solidFill>
              </a:rPr>
              <a:t>AI READ-BACK</a:t>
            </a:r>
          </a:p>
        </p:txBody>
      </p:sp>
      <p:sp>
        <p:nvSpPr>
          <p:cNvPr id="25" name="animate-readback">
            <a:extLst>
              <a:ext uri="{FF2B5EF4-FFF2-40B4-BE49-F238E27FC236}">
                <a16:creationId xmlns:a16="http://schemas.microsoft.com/office/drawing/2014/main" id="{D2C99E37-E29C-4288-94D6-5773251E5457}"/>
              </a:ext>
            </a:extLst>
          </p:cNvPr>
          <p:cNvSpPr>
            <a:spLocks noGrp="1"/>
          </p:cNvSpPr>
          <p:nvPr/>
        </p:nvSpPr>
        <p:spPr>
          <a:xfrm>
            <a:off x="1371600" y="4152900"/>
            <a:ext cx="742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“Cycle count: 15 boxes of Nitrile Safety Gloves at Rack A-01. Confirm?”</a:t>
            </a:r>
          </a:p>
        </p:txBody>
      </p:sp>
      <p:sp>
        <p:nvSpPr>
          <p:cNvPr id="26" name="animate-confirm">
            <a:extLst>
              <a:ext uri="{FF2B5EF4-FFF2-40B4-BE49-F238E27FC236}">
                <a16:creationId xmlns:a16="http://schemas.microsoft.com/office/drawing/2014/main" id="{304E94D4-ADA8-4D1F-84ED-0148217D48F0}"/>
              </a:ext>
            </a:extLst>
          </p:cNvPr>
          <p:cNvSpPr>
            <a:spLocks noGrp="1"/>
          </p:cNvSpPr>
          <p:nvPr/>
        </p:nvSpPr>
        <p:spPr>
          <a:xfrm>
            <a:off x="8915400" y="4057650"/>
            <a:ext cx="1790700" cy="400050"/>
          </a:xfrm>
          <a:prstGeom prst="roundRect">
            <a:avLst>
              <a:gd name="adj" fmla="val 19048"/>
            </a:avLst>
          </a:prstGeom>
          <a:solidFill>
            <a:srgbClr val="12966F"/>
          </a:solidFill>
          <a:ln w="0">
            <a:noFill/>
            <a:prstDash val="solid"/>
          </a:ln>
        </p:spPr>
      </p:sp>
      <p:sp>
        <p:nvSpPr>
          <p:cNvPr id="27" name="animate-confirm-text">
            <a:extLst>
              <a:ext uri="{FF2B5EF4-FFF2-40B4-BE49-F238E27FC236}">
                <a16:creationId xmlns:a16="http://schemas.microsoft.com/office/drawing/2014/main" id="{490E6EA7-4268-45A4-B095-6761B4325AE3}"/>
              </a:ext>
            </a:extLst>
          </p:cNvPr>
          <p:cNvSpPr>
            <a:spLocks noGrp="1"/>
          </p:cNvSpPr>
          <p:nvPr/>
        </p:nvSpPr>
        <p:spPr>
          <a:xfrm>
            <a:off x="9029700" y="4152900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  CONFIRM</a:t>
            </a:r>
          </a:p>
        </p:txBody>
      </p:sp>
      <p:sp>
        <p:nvSpPr>
          <p:cNvPr id="28" name="subtitle-bg">
            <a:extLst>
              <a:ext uri="{FF2B5EF4-FFF2-40B4-BE49-F238E27FC236}">
                <a16:creationId xmlns:a16="http://schemas.microsoft.com/office/drawing/2014/main" id="{ED4FE63F-2979-4F8D-86CB-74ADBBFB0DA2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29" name="subtitle-text">
            <a:extLst>
              <a:ext uri="{FF2B5EF4-FFF2-40B4-BE49-F238E27FC236}">
                <a16:creationId xmlns:a16="http://schemas.microsoft.com/office/drawing/2014/main" id="{0F97B372-DFEF-4E94-9882-36D8DF28C159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The worker reviews and confirms the structured transaction before anything changes.</a:t>
            </a:r>
          </a:p>
        </p:txBody>
      </p:sp>
      <p:pic>
        <p:nvPicPr>
          <p:cNvPr id="31" name="narration-05">
            <a:hlinkClick r:id="" action="ppaction://media"/>
            <a:extLst>
              <a:ext uri="{FF2B5EF4-FFF2-40B4-BE49-F238E27FC236}">
                <a16:creationId xmlns:a16="http://schemas.microsoft.com/office/drawing/2014/main" id="{8F63CF64-51E5-9932-E157-F89FE96457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  <p:pic>
        <p:nvPicPr>
          <p:cNvPr id="32" name="confirm">
            <a:hlinkClick r:id="" action="ppaction://media"/>
            <a:extLst>
              <a:ext uri="{FF2B5EF4-FFF2-40B4-BE49-F238E27FC236}">
                <a16:creationId xmlns:a16="http://schemas.microsoft.com/office/drawing/2014/main" id="{82675001-F624-4CD8-AEA7-AA3A0FCE5D2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51525" y="3184525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60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fade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26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50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nimate-eyebrow-Secure real-time processing">
            <a:extLst>
              <a:ext uri="{FF2B5EF4-FFF2-40B4-BE49-F238E27FC236}">
                <a16:creationId xmlns:a16="http://schemas.microsoft.com/office/drawing/2014/main" id="{93504078-5006-4302-8411-215636909A78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5C5F0"/>
                </a:solidFill>
              </a:defRPr>
            </a:pPr>
            <a:r>
              <a:rPr sz="975" b="1">
                <a:solidFill>
                  <a:srgbClr val="35C5F0"/>
                </a:solidFill>
              </a:rPr>
              <a:t>SECURE REAL-TIME PROCESSING</a:t>
            </a:r>
          </a:p>
        </p:txBody>
      </p:sp>
      <p:sp>
        <p:nvSpPr>
          <p:cNvPr id="2" name="animate-title">
            <a:extLst>
              <a:ext uri="{FF2B5EF4-FFF2-40B4-BE49-F238E27FC236}">
                <a16:creationId xmlns:a16="http://schemas.microsoft.com/office/drawing/2014/main" id="{5817D725-6029-4C7A-82E0-65FFA18B61D7}"/>
              </a:ext>
            </a:extLst>
          </p:cNvPr>
          <p:cNvSpPr>
            <a:spLocks noGrp="1"/>
          </p:cNvSpPr>
          <p:nvPr/>
        </p:nvSpPr>
        <p:spPr>
          <a:xfrm>
            <a:off x="571500" y="72390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Every update passes through controlled business rules</a:t>
            </a:r>
          </a:p>
        </p:txBody>
      </p:sp>
      <p:sp>
        <p:nvSpPr>
          <p:cNvPr id="3" name="animate-node-0">
            <a:extLst>
              <a:ext uri="{FF2B5EF4-FFF2-40B4-BE49-F238E27FC236}">
                <a16:creationId xmlns:a16="http://schemas.microsoft.com/office/drawing/2014/main" id="{35F25694-DD77-447B-9139-1A01C9098C0A}"/>
              </a:ext>
            </a:extLst>
          </p:cNvPr>
          <p:cNvSpPr>
            <a:spLocks noGrp="1"/>
          </p:cNvSpPr>
          <p:nvPr/>
        </p:nvSpPr>
        <p:spPr>
          <a:xfrm>
            <a:off x="361950" y="2000250"/>
            <a:ext cx="1657350" cy="1162050"/>
          </a:xfrm>
          <a:prstGeom prst="roundRect">
            <a:avLst>
              <a:gd name="adj" fmla="val 6557"/>
            </a:avLst>
          </a:prstGeom>
          <a:solidFill>
            <a:srgbClr val="0E2A52"/>
          </a:solidFill>
          <a:ln w="9525">
            <a:solidFill>
              <a:srgbClr val="376DAA"/>
            </a:solidFill>
            <a:prstDash val="solid"/>
          </a:ln>
        </p:spPr>
      </p:sp>
      <p:sp>
        <p:nvSpPr>
          <p:cNvPr id="4" name="animate-node-number-0">
            <a:extLst>
              <a:ext uri="{FF2B5EF4-FFF2-40B4-BE49-F238E27FC236}">
                <a16:creationId xmlns:a16="http://schemas.microsoft.com/office/drawing/2014/main" id="{FEB349DE-77E7-43EE-A182-B312FFE72672}"/>
              </a:ext>
            </a:extLst>
          </p:cNvPr>
          <p:cNvSpPr>
            <a:spLocks noGrp="1"/>
          </p:cNvSpPr>
          <p:nvPr/>
        </p:nvSpPr>
        <p:spPr>
          <a:xfrm>
            <a:off x="885825" y="161925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5" name="animate-node-num-0">
            <a:extLst>
              <a:ext uri="{FF2B5EF4-FFF2-40B4-BE49-F238E27FC236}">
                <a16:creationId xmlns:a16="http://schemas.microsoft.com/office/drawing/2014/main" id="{67B27D47-214F-4ECC-90B1-F17C5C287348}"/>
              </a:ext>
            </a:extLst>
          </p:cNvPr>
          <p:cNvSpPr>
            <a:spLocks noGrp="1"/>
          </p:cNvSpPr>
          <p:nvPr/>
        </p:nvSpPr>
        <p:spPr>
          <a:xfrm>
            <a:off x="990600" y="17526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animate-node-label-0">
            <a:extLst>
              <a:ext uri="{FF2B5EF4-FFF2-40B4-BE49-F238E27FC236}">
                <a16:creationId xmlns:a16="http://schemas.microsoft.com/office/drawing/2014/main" id="{86526005-38EC-4CEC-BEDE-C3E6F13D80A0}"/>
              </a:ext>
            </a:extLst>
          </p:cNvPr>
          <p:cNvSpPr>
            <a:spLocks noGrp="1"/>
          </p:cNvSpPr>
          <p:nvPr/>
        </p:nvSpPr>
        <p:spPr>
          <a:xfrm>
            <a:off x="476250" y="24574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Speech-to-Text</a:t>
            </a:r>
          </a:p>
        </p:txBody>
      </p:sp>
      <p:sp>
        <p:nvSpPr>
          <p:cNvPr id="7" name="animate-arrow-0">
            <a:extLst>
              <a:ext uri="{FF2B5EF4-FFF2-40B4-BE49-F238E27FC236}">
                <a16:creationId xmlns:a16="http://schemas.microsoft.com/office/drawing/2014/main" id="{2F143E9E-94DE-47E3-AE30-397319D7FCE7}"/>
              </a:ext>
            </a:extLst>
          </p:cNvPr>
          <p:cNvSpPr>
            <a:spLocks noGrp="1"/>
          </p:cNvSpPr>
          <p:nvPr/>
        </p:nvSpPr>
        <p:spPr>
          <a:xfrm>
            <a:off x="2038350" y="23622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35C5F0"/>
                </a:solidFill>
              </a:defRPr>
            </a:pPr>
            <a:r>
              <a:rPr sz="1800" b="1">
                <a:solidFill>
                  <a:srgbClr val="35C5F0"/>
                </a:solidFill>
              </a:rPr>
              <a:t>→</a:t>
            </a:r>
          </a:p>
        </p:txBody>
      </p:sp>
      <p:sp>
        <p:nvSpPr>
          <p:cNvPr id="8" name="animate-node-1">
            <a:extLst>
              <a:ext uri="{FF2B5EF4-FFF2-40B4-BE49-F238E27FC236}">
                <a16:creationId xmlns:a16="http://schemas.microsoft.com/office/drawing/2014/main" id="{D5503C6B-0AFD-418A-9EA8-6C3056BB6DB0}"/>
              </a:ext>
            </a:extLst>
          </p:cNvPr>
          <p:cNvSpPr>
            <a:spLocks noGrp="1"/>
          </p:cNvSpPr>
          <p:nvPr/>
        </p:nvSpPr>
        <p:spPr>
          <a:xfrm>
            <a:off x="2314575" y="2000250"/>
            <a:ext cx="1657350" cy="1162050"/>
          </a:xfrm>
          <a:prstGeom prst="roundRect">
            <a:avLst>
              <a:gd name="adj" fmla="val 6557"/>
            </a:avLst>
          </a:prstGeom>
          <a:solidFill>
            <a:srgbClr val="0E2A52"/>
          </a:solidFill>
          <a:ln w="9525">
            <a:solidFill>
              <a:srgbClr val="376DAA"/>
            </a:solidFill>
            <a:prstDash val="solid"/>
          </a:ln>
        </p:spPr>
      </p:sp>
      <p:sp>
        <p:nvSpPr>
          <p:cNvPr id="9" name="animate-node-number-1">
            <a:extLst>
              <a:ext uri="{FF2B5EF4-FFF2-40B4-BE49-F238E27FC236}">
                <a16:creationId xmlns:a16="http://schemas.microsoft.com/office/drawing/2014/main" id="{39CBA582-65B1-4447-8E61-D0016FF142E5}"/>
              </a:ext>
            </a:extLst>
          </p:cNvPr>
          <p:cNvSpPr>
            <a:spLocks noGrp="1"/>
          </p:cNvSpPr>
          <p:nvPr/>
        </p:nvSpPr>
        <p:spPr>
          <a:xfrm>
            <a:off x="2838450" y="161925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10" name="animate-node-num-1">
            <a:extLst>
              <a:ext uri="{FF2B5EF4-FFF2-40B4-BE49-F238E27FC236}">
                <a16:creationId xmlns:a16="http://schemas.microsoft.com/office/drawing/2014/main" id="{C44D2AA4-948F-4AAE-B61D-7271EE1F16B0}"/>
              </a:ext>
            </a:extLst>
          </p:cNvPr>
          <p:cNvSpPr>
            <a:spLocks noGrp="1"/>
          </p:cNvSpPr>
          <p:nvPr/>
        </p:nvSpPr>
        <p:spPr>
          <a:xfrm>
            <a:off x="2943225" y="17526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animate-node-label-1">
            <a:extLst>
              <a:ext uri="{FF2B5EF4-FFF2-40B4-BE49-F238E27FC236}">
                <a16:creationId xmlns:a16="http://schemas.microsoft.com/office/drawing/2014/main" id="{28B5CBFD-7890-4FD7-B703-D6D5CB4B1A0C}"/>
              </a:ext>
            </a:extLst>
          </p:cNvPr>
          <p:cNvSpPr>
            <a:spLocks noGrp="1"/>
          </p:cNvSpPr>
          <p:nvPr/>
        </p:nvSpPr>
        <p:spPr>
          <a:xfrm>
            <a:off x="2428875" y="24574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AI Extraction</a:t>
            </a:r>
          </a:p>
        </p:txBody>
      </p:sp>
      <p:sp>
        <p:nvSpPr>
          <p:cNvPr id="12" name="animate-arrow-1">
            <a:extLst>
              <a:ext uri="{FF2B5EF4-FFF2-40B4-BE49-F238E27FC236}">
                <a16:creationId xmlns:a16="http://schemas.microsoft.com/office/drawing/2014/main" id="{CE87DDA6-886A-4637-88C4-04ECBBD7CD1A}"/>
              </a:ext>
            </a:extLst>
          </p:cNvPr>
          <p:cNvSpPr>
            <a:spLocks noGrp="1"/>
          </p:cNvSpPr>
          <p:nvPr/>
        </p:nvSpPr>
        <p:spPr>
          <a:xfrm>
            <a:off x="3990975" y="23622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35C5F0"/>
                </a:solidFill>
              </a:defRPr>
            </a:pPr>
            <a:r>
              <a:rPr sz="1800" b="1">
                <a:solidFill>
                  <a:srgbClr val="35C5F0"/>
                </a:solidFill>
              </a:rPr>
              <a:t>→</a:t>
            </a:r>
          </a:p>
        </p:txBody>
      </p:sp>
      <p:sp>
        <p:nvSpPr>
          <p:cNvPr id="13" name="animate-node-2">
            <a:extLst>
              <a:ext uri="{FF2B5EF4-FFF2-40B4-BE49-F238E27FC236}">
                <a16:creationId xmlns:a16="http://schemas.microsoft.com/office/drawing/2014/main" id="{D4FFE677-3012-4BCD-90B8-0390C665AF42}"/>
              </a:ext>
            </a:extLst>
          </p:cNvPr>
          <p:cNvSpPr>
            <a:spLocks noGrp="1"/>
          </p:cNvSpPr>
          <p:nvPr/>
        </p:nvSpPr>
        <p:spPr>
          <a:xfrm>
            <a:off x="4267200" y="2000250"/>
            <a:ext cx="1657350" cy="1162050"/>
          </a:xfrm>
          <a:prstGeom prst="roundRect">
            <a:avLst>
              <a:gd name="adj" fmla="val 6557"/>
            </a:avLst>
          </a:prstGeom>
          <a:solidFill>
            <a:srgbClr val="5B3507"/>
          </a:solidFill>
          <a:ln w="9525">
            <a:solidFill>
              <a:srgbClr val="E88A00"/>
            </a:solidFill>
            <a:prstDash val="solid"/>
          </a:ln>
        </p:spPr>
      </p:sp>
      <p:sp>
        <p:nvSpPr>
          <p:cNvPr id="14" name="animate-node-number-2">
            <a:extLst>
              <a:ext uri="{FF2B5EF4-FFF2-40B4-BE49-F238E27FC236}">
                <a16:creationId xmlns:a16="http://schemas.microsoft.com/office/drawing/2014/main" id="{63586344-DFF6-4087-8B5F-26E7025BD2FE}"/>
              </a:ext>
            </a:extLst>
          </p:cNvPr>
          <p:cNvSpPr>
            <a:spLocks noGrp="1"/>
          </p:cNvSpPr>
          <p:nvPr/>
        </p:nvSpPr>
        <p:spPr>
          <a:xfrm>
            <a:off x="4791075" y="161925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E88A00"/>
          </a:solidFill>
          <a:ln w="0">
            <a:noFill/>
            <a:prstDash val="solid"/>
          </a:ln>
        </p:spPr>
      </p:sp>
      <p:sp>
        <p:nvSpPr>
          <p:cNvPr id="15" name="animate-node-num-2">
            <a:extLst>
              <a:ext uri="{FF2B5EF4-FFF2-40B4-BE49-F238E27FC236}">
                <a16:creationId xmlns:a16="http://schemas.microsoft.com/office/drawing/2014/main" id="{91E726E8-4C6A-4FEA-9208-A1B2F61F735B}"/>
              </a:ext>
            </a:extLst>
          </p:cNvPr>
          <p:cNvSpPr>
            <a:spLocks noGrp="1"/>
          </p:cNvSpPr>
          <p:nvPr/>
        </p:nvSpPr>
        <p:spPr>
          <a:xfrm>
            <a:off x="4895850" y="17526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animate-node-label-2">
            <a:extLst>
              <a:ext uri="{FF2B5EF4-FFF2-40B4-BE49-F238E27FC236}">
                <a16:creationId xmlns:a16="http://schemas.microsoft.com/office/drawing/2014/main" id="{76E4C70A-A992-410C-B6FF-26BD485B2540}"/>
              </a:ext>
            </a:extLst>
          </p:cNvPr>
          <p:cNvSpPr>
            <a:spLocks noGrp="1"/>
          </p:cNvSpPr>
          <p:nvPr/>
        </p:nvSpPr>
        <p:spPr>
          <a:xfrm>
            <a:off x="4381500" y="24574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Inventory Rules</a:t>
            </a:r>
          </a:p>
        </p:txBody>
      </p:sp>
      <p:sp>
        <p:nvSpPr>
          <p:cNvPr id="17" name="animate-arrow-2">
            <a:extLst>
              <a:ext uri="{FF2B5EF4-FFF2-40B4-BE49-F238E27FC236}">
                <a16:creationId xmlns:a16="http://schemas.microsoft.com/office/drawing/2014/main" id="{B91701D5-2046-4731-AA3B-A38D654EFD35}"/>
              </a:ext>
            </a:extLst>
          </p:cNvPr>
          <p:cNvSpPr>
            <a:spLocks noGrp="1"/>
          </p:cNvSpPr>
          <p:nvPr/>
        </p:nvSpPr>
        <p:spPr>
          <a:xfrm>
            <a:off x="5943600" y="23622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35C5F0"/>
                </a:solidFill>
              </a:defRPr>
            </a:pPr>
            <a:r>
              <a:rPr sz="1800" b="1">
                <a:solidFill>
                  <a:srgbClr val="35C5F0"/>
                </a:solidFill>
              </a:rPr>
              <a:t>→</a:t>
            </a:r>
          </a:p>
        </p:txBody>
      </p:sp>
      <p:sp>
        <p:nvSpPr>
          <p:cNvPr id="18" name="animate-node-3">
            <a:extLst>
              <a:ext uri="{FF2B5EF4-FFF2-40B4-BE49-F238E27FC236}">
                <a16:creationId xmlns:a16="http://schemas.microsoft.com/office/drawing/2014/main" id="{C91C65FC-1CDB-4084-94CA-34C899DAC183}"/>
              </a:ext>
            </a:extLst>
          </p:cNvPr>
          <p:cNvSpPr>
            <a:spLocks noGrp="1"/>
          </p:cNvSpPr>
          <p:nvPr/>
        </p:nvSpPr>
        <p:spPr>
          <a:xfrm>
            <a:off x="6219825" y="2000250"/>
            <a:ext cx="1657350" cy="1162050"/>
          </a:xfrm>
          <a:prstGeom prst="roundRect">
            <a:avLst>
              <a:gd name="adj" fmla="val 6557"/>
            </a:avLst>
          </a:prstGeom>
          <a:solidFill>
            <a:srgbClr val="0E2A52"/>
          </a:solidFill>
          <a:ln w="9525">
            <a:solidFill>
              <a:srgbClr val="376DAA"/>
            </a:solidFill>
            <a:prstDash val="solid"/>
          </a:ln>
        </p:spPr>
      </p:sp>
      <p:sp>
        <p:nvSpPr>
          <p:cNvPr id="19" name="animate-node-number-3">
            <a:extLst>
              <a:ext uri="{FF2B5EF4-FFF2-40B4-BE49-F238E27FC236}">
                <a16:creationId xmlns:a16="http://schemas.microsoft.com/office/drawing/2014/main" id="{8695D815-40F0-4F2E-9A7F-EF1E39CC3906}"/>
              </a:ext>
            </a:extLst>
          </p:cNvPr>
          <p:cNvSpPr>
            <a:spLocks noGrp="1"/>
          </p:cNvSpPr>
          <p:nvPr/>
        </p:nvSpPr>
        <p:spPr>
          <a:xfrm>
            <a:off x="6743700" y="161925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20" name="animate-node-num-3">
            <a:extLst>
              <a:ext uri="{FF2B5EF4-FFF2-40B4-BE49-F238E27FC236}">
                <a16:creationId xmlns:a16="http://schemas.microsoft.com/office/drawing/2014/main" id="{F5E75E84-EC7C-4B86-8C19-9D6C904AF450}"/>
              </a:ext>
            </a:extLst>
          </p:cNvPr>
          <p:cNvSpPr>
            <a:spLocks noGrp="1"/>
          </p:cNvSpPr>
          <p:nvPr/>
        </p:nvSpPr>
        <p:spPr>
          <a:xfrm>
            <a:off x="6848475" y="17526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animate-node-label-3">
            <a:extLst>
              <a:ext uri="{FF2B5EF4-FFF2-40B4-BE49-F238E27FC236}">
                <a16:creationId xmlns:a16="http://schemas.microsoft.com/office/drawing/2014/main" id="{4FB92DFB-7B24-439F-A890-6CD3CAA331EA}"/>
              </a:ext>
            </a:extLst>
          </p:cNvPr>
          <p:cNvSpPr>
            <a:spLocks noGrp="1"/>
          </p:cNvSpPr>
          <p:nvPr/>
        </p:nvSpPr>
        <p:spPr>
          <a:xfrm>
            <a:off x="6334125" y="24574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2" name="animate-arrow-3">
            <a:extLst>
              <a:ext uri="{FF2B5EF4-FFF2-40B4-BE49-F238E27FC236}">
                <a16:creationId xmlns:a16="http://schemas.microsoft.com/office/drawing/2014/main" id="{F2F5ACFB-A667-4BF9-A34C-90257B846449}"/>
              </a:ext>
            </a:extLst>
          </p:cNvPr>
          <p:cNvSpPr>
            <a:spLocks noGrp="1"/>
          </p:cNvSpPr>
          <p:nvPr/>
        </p:nvSpPr>
        <p:spPr>
          <a:xfrm>
            <a:off x="7896225" y="23622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35C5F0"/>
                </a:solidFill>
              </a:defRPr>
            </a:pPr>
            <a:r>
              <a:rPr sz="1800" b="1">
                <a:solidFill>
                  <a:srgbClr val="35C5F0"/>
                </a:solidFill>
              </a:rPr>
              <a:t>→</a:t>
            </a:r>
          </a:p>
        </p:txBody>
      </p:sp>
      <p:sp>
        <p:nvSpPr>
          <p:cNvPr id="23" name="animate-node-4">
            <a:extLst>
              <a:ext uri="{FF2B5EF4-FFF2-40B4-BE49-F238E27FC236}">
                <a16:creationId xmlns:a16="http://schemas.microsoft.com/office/drawing/2014/main" id="{417EE1BD-955D-46FA-88FD-193774867363}"/>
              </a:ext>
            </a:extLst>
          </p:cNvPr>
          <p:cNvSpPr>
            <a:spLocks noGrp="1"/>
          </p:cNvSpPr>
          <p:nvPr/>
        </p:nvSpPr>
        <p:spPr>
          <a:xfrm>
            <a:off x="8172450" y="2000250"/>
            <a:ext cx="1657350" cy="1162050"/>
          </a:xfrm>
          <a:prstGeom prst="roundRect">
            <a:avLst>
              <a:gd name="adj" fmla="val 6557"/>
            </a:avLst>
          </a:prstGeom>
          <a:solidFill>
            <a:srgbClr val="0E2A52"/>
          </a:solidFill>
          <a:ln w="9525">
            <a:solidFill>
              <a:srgbClr val="376DAA"/>
            </a:solidFill>
            <a:prstDash val="solid"/>
          </a:ln>
        </p:spPr>
      </p:sp>
      <p:sp>
        <p:nvSpPr>
          <p:cNvPr id="24" name="animate-node-number-4">
            <a:extLst>
              <a:ext uri="{FF2B5EF4-FFF2-40B4-BE49-F238E27FC236}">
                <a16:creationId xmlns:a16="http://schemas.microsoft.com/office/drawing/2014/main" id="{BD07D153-B46B-4718-A2D9-8F1FFDF5E115}"/>
              </a:ext>
            </a:extLst>
          </p:cNvPr>
          <p:cNvSpPr>
            <a:spLocks noGrp="1"/>
          </p:cNvSpPr>
          <p:nvPr/>
        </p:nvSpPr>
        <p:spPr>
          <a:xfrm>
            <a:off x="8696325" y="161925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25" name="animate-node-num-4">
            <a:extLst>
              <a:ext uri="{FF2B5EF4-FFF2-40B4-BE49-F238E27FC236}">
                <a16:creationId xmlns:a16="http://schemas.microsoft.com/office/drawing/2014/main" id="{568BFC5C-B87B-45AF-9562-144936013D64}"/>
              </a:ext>
            </a:extLst>
          </p:cNvPr>
          <p:cNvSpPr>
            <a:spLocks noGrp="1"/>
          </p:cNvSpPr>
          <p:nvPr/>
        </p:nvSpPr>
        <p:spPr>
          <a:xfrm>
            <a:off x="8801100" y="17526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animate-node-label-4">
            <a:extLst>
              <a:ext uri="{FF2B5EF4-FFF2-40B4-BE49-F238E27FC236}">
                <a16:creationId xmlns:a16="http://schemas.microsoft.com/office/drawing/2014/main" id="{C1D2FB59-BFD7-4ECD-9EFC-2AF079D7DCF1}"/>
              </a:ext>
            </a:extLst>
          </p:cNvPr>
          <p:cNvSpPr>
            <a:spLocks noGrp="1"/>
          </p:cNvSpPr>
          <p:nvPr/>
        </p:nvSpPr>
        <p:spPr>
          <a:xfrm>
            <a:off x="8286750" y="24574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Manager Dashboard</a:t>
            </a:r>
          </a:p>
        </p:txBody>
      </p:sp>
      <p:sp>
        <p:nvSpPr>
          <p:cNvPr id="27" name="animate-arrow-4">
            <a:extLst>
              <a:ext uri="{FF2B5EF4-FFF2-40B4-BE49-F238E27FC236}">
                <a16:creationId xmlns:a16="http://schemas.microsoft.com/office/drawing/2014/main" id="{9292C102-85F0-422B-8ED5-BE38CF0B4B27}"/>
              </a:ext>
            </a:extLst>
          </p:cNvPr>
          <p:cNvSpPr>
            <a:spLocks noGrp="1"/>
          </p:cNvSpPr>
          <p:nvPr/>
        </p:nvSpPr>
        <p:spPr>
          <a:xfrm>
            <a:off x="9848850" y="236220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35C5F0"/>
                </a:solidFill>
              </a:defRPr>
            </a:pPr>
            <a:r>
              <a:rPr sz="1800" b="1">
                <a:solidFill>
                  <a:srgbClr val="35C5F0"/>
                </a:solidFill>
              </a:rPr>
              <a:t>→</a:t>
            </a:r>
          </a:p>
        </p:txBody>
      </p:sp>
      <p:sp>
        <p:nvSpPr>
          <p:cNvPr id="28" name="animate-node-5">
            <a:extLst>
              <a:ext uri="{FF2B5EF4-FFF2-40B4-BE49-F238E27FC236}">
                <a16:creationId xmlns:a16="http://schemas.microsoft.com/office/drawing/2014/main" id="{7D617ED3-D0F3-42AB-8FB0-1CC340589EAD}"/>
              </a:ext>
            </a:extLst>
          </p:cNvPr>
          <p:cNvSpPr>
            <a:spLocks noGrp="1"/>
          </p:cNvSpPr>
          <p:nvPr/>
        </p:nvSpPr>
        <p:spPr>
          <a:xfrm>
            <a:off x="10125075" y="2000250"/>
            <a:ext cx="1657350" cy="1162050"/>
          </a:xfrm>
          <a:prstGeom prst="roundRect">
            <a:avLst>
              <a:gd name="adj" fmla="val 6557"/>
            </a:avLst>
          </a:prstGeom>
          <a:solidFill>
            <a:srgbClr val="0E2A52"/>
          </a:solidFill>
          <a:ln w="9525">
            <a:solidFill>
              <a:srgbClr val="376DAA"/>
            </a:solidFill>
            <a:prstDash val="solid"/>
          </a:ln>
        </p:spPr>
      </p:sp>
      <p:sp>
        <p:nvSpPr>
          <p:cNvPr id="29" name="animate-node-number-5">
            <a:extLst>
              <a:ext uri="{FF2B5EF4-FFF2-40B4-BE49-F238E27FC236}">
                <a16:creationId xmlns:a16="http://schemas.microsoft.com/office/drawing/2014/main" id="{C91102FE-E973-4BB3-8593-A59003E5E0CD}"/>
              </a:ext>
            </a:extLst>
          </p:cNvPr>
          <p:cNvSpPr>
            <a:spLocks noGrp="1"/>
          </p:cNvSpPr>
          <p:nvPr/>
        </p:nvSpPr>
        <p:spPr>
          <a:xfrm>
            <a:off x="10648950" y="161925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30" name="animate-node-num-5">
            <a:extLst>
              <a:ext uri="{FF2B5EF4-FFF2-40B4-BE49-F238E27FC236}">
                <a16:creationId xmlns:a16="http://schemas.microsoft.com/office/drawing/2014/main" id="{B85CCD52-94B9-4AD8-BB98-46B953A31CD1}"/>
              </a:ext>
            </a:extLst>
          </p:cNvPr>
          <p:cNvSpPr>
            <a:spLocks noGrp="1"/>
          </p:cNvSpPr>
          <p:nvPr/>
        </p:nvSpPr>
        <p:spPr>
          <a:xfrm>
            <a:off x="10753725" y="17526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animate-node-label-5">
            <a:extLst>
              <a:ext uri="{FF2B5EF4-FFF2-40B4-BE49-F238E27FC236}">
                <a16:creationId xmlns:a16="http://schemas.microsoft.com/office/drawing/2014/main" id="{E2FD7057-83A2-4BFC-9C23-B59ED53AC84B}"/>
              </a:ext>
            </a:extLst>
          </p:cNvPr>
          <p:cNvSpPr>
            <a:spLocks noGrp="1"/>
          </p:cNvSpPr>
          <p:nvPr/>
        </p:nvSpPr>
        <p:spPr>
          <a:xfrm>
            <a:off x="10239375" y="24574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Audit History</a:t>
            </a:r>
          </a:p>
        </p:txBody>
      </p:sp>
      <p:sp>
        <p:nvSpPr>
          <p:cNvPr id="32" name="discrepancy">
            <a:extLst>
              <a:ext uri="{FF2B5EF4-FFF2-40B4-BE49-F238E27FC236}">
                <a16:creationId xmlns:a16="http://schemas.microsoft.com/office/drawing/2014/main" id="{73096B6B-353C-4FEA-B7E6-D1C3727274FA}"/>
              </a:ext>
            </a:extLst>
          </p:cNvPr>
          <p:cNvSpPr>
            <a:spLocks noGrp="1"/>
          </p:cNvSpPr>
          <p:nvPr/>
        </p:nvSpPr>
        <p:spPr>
          <a:xfrm>
            <a:off x="1219200" y="3733800"/>
            <a:ext cx="9753600" cy="1447800"/>
          </a:xfrm>
          <a:prstGeom prst="roundRect">
            <a:avLst>
              <a:gd name="adj" fmla="val 5263"/>
            </a:avLst>
          </a:prstGeom>
          <a:solidFill>
            <a:srgbClr val="FFF4DE"/>
          </a:solidFill>
          <a:ln w="9525">
            <a:solidFill>
              <a:srgbClr val="F0B34F"/>
            </a:solidFill>
            <a:prstDash val="solid"/>
          </a:ln>
        </p:spPr>
      </p:sp>
      <p:sp>
        <p:nvSpPr>
          <p:cNvPr id="33" name="animate-discrepancy-label">
            <a:extLst>
              <a:ext uri="{FF2B5EF4-FFF2-40B4-BE49-F238E27FC236}">
                <a16:creationId xmlns:a16="http://schemas.microsoft.com/office/drawing/2014/main" id="{23F567B3-97A3-4093-9871-0A1DA50644F8}"/>
              </a:ext>
            </a:extLst>
          </p:cNvPr>
          <p:cNvSpPr>
            <a:spLocks noGrp="1"/>
          </p:cNvSpPr>
          <p:nvPr/>
        </p:nvSpPr>
        <p:spPr>
          <a:xfrm>
            <a:off x="1562100" y="39814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88A00"/>
                </a:solidFill>
              </a:defRPr>
            </a:pPr>
            <a:r>
              <a:rPr sz="900" b="1">
                <a:solidFill>
                  <a:srgbClr val="E88A00"/>
                </a:solidFill>
              </a:rPr>
              <a:t>SMART DISCREPANCY FLAG</a:t>
            </a:r>
          </a:p>
        </p:txBody>
      </p:sp>
      <p:sp>
        <p:nvSpPr>
          <p:cNvPr id="34" name="animate-discrepancy">
            <a:extLst>
              <a:ext uri="{FF2B5EF4-FFF2-40B4-BE49-F238E27FC236}">
                <a16:creationId xmlns:a16="http://schemas.microsoft.com/office/drawing/2014/main" id="{33543ADD-7AAA-4B83-85CF-F0E6743C52D2}"/>
              </a:ext>
            </a:extLst>
          </p:cNvPr>
          <p:cNvSpPr>
            <a:spLocks noGrp="1"/>
          </p:cNvSpPr>
          <p:nvPr/>
        </p:nvSpPr>
        <p:spPr>
          <a:xfrm>
            <a:off x="1562100" y="4362450"/>
            <a:ext cx="885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5D3A08"/>
                </a:solidFill>
              </a:defRPr>
            </a:pPr>
            <a:r>
              <a:rPr sz="1725" b="1">
                <a:solidFill>
                  <a:srgbClr val="5D3A08"/>
                </a:solidFill>
              </a:rPr>
              <a:t>System stock: 35 boxes   →   Physical count: 15 boxes   →   Difference: −20 boxes</a:t>
            </a:r>
          </a:p>
        </p:txBody>
      </p:sp>
      <p:sp>
        <p:nvSpPr>
          <p:cNvPr id="35" name="animate-review-rule">
            <a:extLst>
              <a:ext uri="{FF2B5EF4-FFF2-40B4-BE49-F238E27FC236}">
                <a16:creationId xmlns:a16="http://schemas.microsoft.com/office/drawing/2014/main" id="{69C33054-2D4F-45A6-9CBF-7A1FDD4E7A52}"/>
              </a:ext>
            </a:extLst>
          </p:cNvPr>
          <p:cNvSpPr>
            <a:spLocks noGrp="1"/>
          </p:cNvSpPr>
          <p:nvPr/>
        </p:nvSpPr>
        <p:spPr>
          <a:xfrm>
            <a:off x="1562100" y="481965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9551F"/>
                </a:solidFill>
              </a:defRPr>
            </a:pPr>
            <a:r>
              <a:rPr sz="1200" b="1">
                <a:solidFill>
                  <a:srgbClr val="79551F"/>
                </a:solidFill>
              </a:rPr>
              <a:t>Cycle-count differences require manager review. Stock remains unchanged until approval.</a:t>
            </a:r>
          </a:p>
        </p:txBody>
      </p:sp>
      <p:sp>
        <p:nvSpPr>
          <p:cNvPr id="36" name="subtitle-bg">
            <a:extLst>
              <a:ext uri="{FF2B5EF4-FFF2-40B4-BE49-F238E27FC236}">
                <a16:creationId xmlns:a16="http://schemas.microsoft.com/office/drawing/2014/main" id="{B7ECA209-C214-41B1-9F81-D3921758FBB6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37" name="subtitle-text">
            <a:extLst>
              <a:ext uri="{FF2B5EF4-FFF2-40B4-BE49-F238E27FC236}">
                <a16:creationId xmlns:a16="http://schemas.microsoft.com/office/drawing/2014/main" id="{5224C434-3172-46B7-A120-B1B73A62F836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 large difference is flagged automatically and sent to the manager for review.</a:t>
            </a:r>
          </a:p>
        </p:txBody>
      </p:sp>
      <p:pic>
        <p:nvPicPr>
          <p:cNvPr id="39" name="narration-06">
            <a:hlinkClick r:id="" action="ppaction://media"/>
            <a:extLst>
              <a:ext uri="{FF2B5EF4-FFF2-40B4-BE49-F238E27FC236}">
                <a16:creationId xmlns:a16="http://schemas.microsoft.com/office/drawing/2014/main" id="{0FA85BAD-9A35-9247-3E76-34082EC7A1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  <p:pic>
        <p:nvPicPr>
          <p:cNvPr id="40" name="alert">
            <a:hlinkClick r:id="" action="ppaction://media"/>
            <a:extLst>
              <a:ext uri="{FF2B5EF4-FFF2-40B4-BE49-F238E27FC236}">
                <a16:creationId xmlns:a16="http://schemas.microsoft.com/office/drawing/2014/main" id="{2FDDE093-A6B5-3D9C-C5B1-B55B082D513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51525" y="3184525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8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>
        <p:fade/>
      </p:transition>
    </mc:Choice>
    <mc:Fallback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70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00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rcRect t="19497" b="1949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ocus-shade">
            <a:extLst>
              <a:ext uri="{FF2B5EF4-FFF2-40B4-BE49-F238E27FC236}">
                <a16:creationId xmlns:a16="http://schemas.microsoft.com/office/drawing/2014/main" id="{26CC85AC-8665-42E6-9568-1C8CE408F2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95750" cy="6248400"/>
          </a:xfrm>
          <a:prstGeom prst="roundRect">
            <a:avLst>
              <a:gd name="adj" fmla="val 186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3" name="animate-eyebrow-Live manager dashboard">
            <a:extLst>
              <a:ext uri="{FF2B5EF4-FFF2-40B4-BE49-F238E27FC236}">
                <a16:creationId xmlns:a16="http://schemas.microsoft.com/office/drawing/2014/main" id="{8FFD0B5B-B979-4A1A-96ED-D8DCC6AB0DAE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5C5F0"/>
                </a:solidFill>
              </a:defRPr>
            </a:pPr>
            <a:r>
              <a:rPr sz="975" b="1">
                <a:solidFill>
                  <a:srgbClr val="35C5F0"/>
                </a:solidFill>
              </a:rPr>
              <a:t>LIVE MANAGER DASHBOARD</a:t>
            </a:r>
          </a:p>
        </p:txBody>
      </p:sp>
      <p:sp>
        <p:nvSpPr>
          <p:cNvPr id="4" name="animate-title">
            <a:extLst>
              <a:ext uri="{FF2B5EF4-FFF2-40B4-BE49-F238E27FC236}">
                <a16:creationId xmlns:a16="http://schemas.microsoft.com/office/drawing/2014/main" id="{3ADDD310-E1E4-458F-ABAD-6F87E80280FA}"/>
              </a:ext>
            </a:extLst>
          </p:cNvPr>
          <p:cNvSpPr>
            <a:spLocks noGrp="1"/>
          </p:cNvSpPr>
          <p:nvPr/>
        </p:nvSpPr>
        <p:spPr>
          <a:xfrm>
            <a:off x="419100" y="781050"/>
            <a:ext cx="3238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The manager sees the request immediately</a:t>
            </a:r>
          </a:p>
        </p:txBody>
      </p:sp>
      <p:sp>
        <p:nvSpPr>
          <p:cNvPr id="5" name="animate-kpi-card">
            <a:extLst>
              <a:ext uri="{FF2B5EF4-FFF2-40B4-BE49-F238E27FC236}">
                <a16:creationId xmlns:a16="http://schemas.microsoft.com/office/drawing/2014/main" id="{B800024F-F19B-4026-BD2E-02DB4986F6A0}"/>
              </a:ext>
            </a:extLst>
          </p:cNvPr>
          <p:cNvSpPr>
            <a:spLocks noGrp="1"/>
          </p:cNvSpPr>
          <p:nvPr/>
        </p:nvSpPr>
        <p:spPr>
          <a:xfrm>
            <a:off x="419100" y="22288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E3F4"/>
            </a:solidFill>
            <a:prstDash val="solid"/>
          </a:ln>
        </p:spPr>
      </p:sp>
      <p:sp>
        <p:nvSpPr>
          <p:cNvPr id="6" name="animate-kpi-label">
            <a:extLst>
              <a:ext uri="{FF2B5EF4-FFF2-40B4-BE49-F238E27FC236}">
                <a16:creationId xmlns:a16="http://schemas.microsoft.com/office/drawing/2014/main" id="{03CE2125-AC88-4992-8BDE-ADAC21863C91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F86A5"/>
                </a:solidFill>
              </a:defRPr>
            </a:pPr>
            <a:r>
              <a:rPr sz="900" b="1">
                <a:solidFill>
                  <a:srgbClr val="6F86A5"/>
                </a:solidFill>
              </a:rPr>
              <a:t>PENDING APPROVALS</a:t>
            </a:r>
          </a:p>
        </p:txBody>
      </p:sp>
      <p:sp>
        <p:nvSpPr>
          <p:cNvPr id="7" name="animate-kpi-value">
            <a:extLst>
              <a:ext uri="{FF2B5EF4-FFF2-40B4-BE49-F238E27FC236}">
                <a16:creationId xmlns:a16="http://schemas.microsoft.com/office/drawing/2014/main" id="{94A5F9F8-045F-4545-8A98-55DED45D75D1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246BFD"/>
                </a:solidFill>
              </a:defRPr>
            </a:pPr>
            <a:r>
              <a:rPr sz="3000" b="1">
                <a:solidFill>
                  <a:srgbClr val="246BFD"/>
                </a:solidFill>
              </a:rPr>
              <a:t>1</a:t>
            </a:r>
          </a:p>
        </p:txBody>
      </p:sp>
      <p:sp>
        <p:nvSpPr>
          <p:cNvPr id="8" name="animate-live">
            <a:extLst>
              <a:ext uri="{FF2B5EF4-FFF2-40B4-BE49-F238E27FC236}">
                <a16:creationId xmlns:a16="http://schemas.microsoft.com/office/drawing/2014/main" id="{C9DFBBF9-A6E2-42D3-8898-F5467B09C7EA}"/>
              </a:ext>
            </a:extLst>
          </p:cNvPr>
          <p:cNvSpPr>
            <a:spLocks noGrp="1"/>
          </p:cNvSpPr>
          <p:nvPr/>
        </p:nvSpPr>
        <p:spPr>
          <a:xfrm>
            <a:off x="1600200" y="287655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2966F"/>
                </a:solidFill>
              </a:defRPr>
            </a:pPr>
            <a:r>
              <a:rPr sz="900" b="1">
                <a:solidFill>
                  <a:srgbClr val="12966F"/>
                </a:solidFill>
              </a:rPr>
              <a:t>LIVE FROM POSTGRESQL</a:t>
            </a:r>
          </a:p>
        </p:txBody>
      </p:sp>
      <p:sp>
        <p:nvSpPr>
          <p:cNvPr id="9" name="animate-request">
            <a:extLst>
              <a:ext uri="{FF2B5EF4-FFF2-40B4-BE49-F238E27FC236}">
                <a16:creationId xmlns:a16="http://schemas.microsoft.com/office/drawing/2014/main" id="{1892CCCB-8C03-4711-A0E7-F50A8533E31A}"/>
              </a:ext>
            </a:extLst>
          </p:cNvPr>
          <p:cNvSpPr>
            <a:spLocks noGrp="1"/>
          </p:cNvSpPr>
          <p:nvPr/>
        </p:nvSpPr>
        <p:spPr>
          <a:xfrm>
            <a:off x="419100" y="3676650"/>
            <a:ext cx="3143250" cy="1676400"/>
          </a:xfrm>
          <a:prstGeom prst="roundRect">
            <a:avLst>
              <a:gd name="adj" fmla="val 4545"/>
            </a:avLst>
          </a:prstGeom>
          <a:solidFill>
            <a:srgbClr val="FFF7E8"/>
          </a:solidFill>
          <a:ln w="9525">
            <a:solidFill>
              <a:srgbClr val="F1BE6C"/>
            </a:solidFill>
            <a:prstDash val="solid"/>
          </a:ln>
        </p:spPr>
      </p:sp>
      <p:sp>
        <p:nvSpPr>
          <p:cNvPr id="10" name="animate-request-title">
            <a:extLst>
              <a:ext uri="{FF2B5EF4-FFF2-40B4-BE49-F238E27FC236}">
                <a16:creationId xmlns:a16="http://schemas.microsoft.com/office/drawing/2014/main" id="{58328F0A-4AD7-4BFB-8E32-5B7A67899B67}"/>
              </a:ext>
            </a:extLst>
          </p:cNvPr>
          <p:cNvSpPr>
            <a:spLocks noGrp="1"/>
          </p:cNvSpPr>
          <p:nvPr/>
        </p:nvSpPr>
        <p:spPr>
          <a:xfrm>
            <a:off x="647700" y="39052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6B460E"/>
                </a:solidFill>
              </a:defRPr>
            </a:pPr>
            <a:r>
              <a:rPr sz="1500" b="1">
                <a:solidFill>
                  <a:srgbClr val="6B460E"/>
                </a:solidFill>
              </a:rPr>
              <a:t>Cycle count discrepancy</a:t>
            </a:r>
          </a:p>
        </p:txBody>
      </p:sp>
      <p:sp>
        <p:nvSpPr>
          <p:cNvPr id="11" name="animate-request-item">
            <a:extLst>
              <a:ext uri="{FF2B5EF4-FFF2-40B4-BE49-F238E27FC236}">
                <a16:creationId xmlns:a16="http://schemas.microsoft.com/office/drawing/2014/main" id="{70039C10-7509-48CD-9186-E54263DB6A4E}"/>
              </a:ext>
            </a:extLst>
          </p:cNvPr>
          <p:cNvSpPr>
            <a:spLocks noGrp="1"/>
          </p:cNvSpPr>
          <p:nvPr/>
        </p:nvSpPr>
        <p:spPr>
          <a:xfrm>
            <a:off x="647700" y="4305300"/>
            <a:ext cx="266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A52"/>
                </a:solidFill>
              </a:defRPr>
            </a:pPr>
            <a:r>
              <a:rPr sz="1350" b="1">
                <a:solidFill>
                  <a:srgbClr val="102A52"/>
                </a:solidFill>
              </a:rPr>
              <a:t>Nitrile Safety Gloves</a:t>
            </a:r>
          </a:p>
          <a:p>
            <a:pPr algn="l">
              <a:defRPr sz="1350" b="1">
                <a:solidFill>
                  <a:srgbClr val="102A52"/>
                </a:solidFill>
              </a:defRPr>
            </a:pPr>
            <a:r>
              <a:rPr sz="1350" b="1">
                <a:solidFill>
                  <a:srgbClr val="102A52"/>
                </a:solidFill>
              </a:rPr>
              <a:t>Rack A-01 • 15 boxes</a:t>
            </a:r>
          </a:p>
        </p:txBody>
      </p:sp>
      <p:sp>
        <p:nvSpPr>
          <p:cNvPr id="12" name="animate-review">
            <a:extLst>
              <a:ext uri="{FF2B5EF4-FFF2-40B4-BE49-F238E27FC236}">
                <a16:creationId xmlns:a16="http://schemas.microsoft.com/office/drawing/2014/main" id="{349542C1-D810-4DDD-B4B2-08F2B83BA72D}"/>
              </a:ext>
            </a:extLst>
          </p:cNvPr>
          <p:cNvSpPr>
            <a:spLocks noGrp="1"/>
          </p:cNvSpPr>
          <p:nvPr/>
        </p:nvSpPr>
        <p:spPr>
          <a:xfrm>
            <a:off x="647700" y="4953000"/>
            <a:ext cx="1238250" cy="400050"/>
          </a:xfrm>
          <a:prstGeom prst="roundRect">
            <a:avLst>
              <a:gd name="adj" fmla="val 19048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13" name="animate-review-text">
            <a:extLst>
              <a:ext uri="{FF2B5EF4-FFF2-40B4-BE49-F238E27FC236}">
                <a16:creationId xmlns:a16="http://schemas.microsoft.com/office/drawing/2014/main" id="{A04FE74D-E999-4F1C-AB10-FC28B2D80C75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14" name="subtitle-bg">
            <a:extLst>
              <a:ext uri="{FF2B5EF4-FFF2-40B4-BE49-F238E27FC236}">
                <a16:creationId xmlns:a16="http://schemas.microsoft.com/office/drawing/2014/main" id="{EA734F5F-DDED-4EFF-8CF8-70818BFBA066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15" name="subtitle-text">
            <a:extLst>
              <a:ext uri="{FF2B5EF4-FFF2-40B4-BE49-F238E27FC236}">
                <a16:creationId xmlns:a16="http://schemas.microsoft.com/office/drawing/2014/main" id="{85C4FA39-29AD-4129-929A-855059BAD686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The manager dashboard updates in real time with one new approval request.</a:t>
            </a:r>
          </a:p>
        </p:txBody>
      </p:sp>
      <p:pic>
        <p:nvPicPr>
          <p:cNvPr id="17" name="narration-07">
            <a:hlinkClick r:id="" action="ppaction://media"/>
            <a:extLst>
              <a:ext uri="{FF2B5EF4-FFF2-40B4-BE49-F238E27FC236}">
                <a16:creationId xmlns:a16="http://schemas.microsoft.com/office/drawing/2014/main" id="{64EED5EE-C26F-306D-5A7D-EFBC2A39D7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416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>
        <p:fade/>
      </p:transition>
    </mc:Choice>
    <mc:Fallback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rcRect t="2502" b="25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view-focus">
            <a:extLst>
              <a:ext uri="{FF2B5EF4-FFF2-40B4-BE49-F238E27FC236}">
                <a16:creationId xmlns:a16="http://schemas.microsoft.com/office/drawing/2014/main" id="{DCB5B82C-C629-41A3-9942-6D9036D90DD7}"/>
              </a:ext>
            </a:extLst>
          </p:cNvPr>
          <p:cNvSpPr>
            <a:spLocks noGrp="1"/>
          </p:cNvSpPr>
          <p:nvPr/>
        </p:nvSpPr>
        <p:spPr>
          <a:xfrm>
            <a:off x="3333750" y="3619500"/>
            <a:ext cx="8096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AFC6E5"/>
            </a:solidFill>
            <a:prstDash val="solid"/>
          </a:ln>
        </p:spPr>
      </p:sp>
      <p:sp>
        <p:nvSpPr>
          <p:cNvPr id="3" name="animate-review-action">
            <a:extLst>
              <a:ext uri="{FF2B5EF4-FFF2-40B4-BE49-F238E27FC236}">
                <a16:creationId xmlns:a16="http://schemas.microsoft.com/office/drawing/2014/main" id="{7D982404-C5F0-47AA-B6F3-99D470E7C569}"/>
              </a:ext>
            </a:extLst>
          </p:cNvPr>
          <p:cNvSpPr>
            <a:spLocks noGrp="1"/>
          </p:cNvSpPr>
          <p:nvPr/>
        </p:nvSpPr>
        <p:spPr>
          <a:xfrm>
            <a:off x="3676650" y="3848100"/>
            <a:ext cx="609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88A00"/>
                </a:solidFill>
              </a:defRPr>
            </a:pPr>
            <a:r>
              <a:rPr sz="900" b="1">
                <a:solidFill>
                  <a:srgbClr val="E88A00"/>
                </a:solidFill>
              </a:rPr>
              <a:t>CYCLE COUNT • MANAGER DECISION REQUIRED</a:t>
            </a:r>
          </a:p>
        </p:txBody>
      </p:sp>
      <p:sp>
        <p:nvSpPr>
          <p:cNvPr id="4" name="animate-review-item">
            <a:extLst>
              <a:ext uri="{FF2B5EF4-FFF2-40B4-BE49-F238E27FC236}">
                <a16:creationId xmlns:a16="http://schemas.microsoft.com/office/drawing/2014/main" id="{225681A3-EA7F-4645-A573-72E190F9A744}"/>
              </a:ext>
            </a:extLst>
          </p:cNvPr>
          <p:cNvSpPr>
            <a:spLocks noGrp="1"/>
          </p:cNvSpPr>
          <p:nvPr/>
        </p:nvSpPr>
        <p:spPr>
          <a:xfrm>
            <a:off x="3676650" y="42291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02A52"/>
                </a:solidFill>
              </a:defRPr>
            </a:pPr>
            <a:r>
              <a:rPr sz="1875" b="1">
                <a:solidFill>
                  <a:srgbClr val="102A52"/>
                </a:solidFill>
              </a:rPr>
              <a:t>Nitrile Safety Gloves • Rack A-01</a:t>
            </a:r>
          </a:p>
        </p:txBody>
      </p:sp>
      <p:sp>
        <p:nvSpPr>
          <p:cNvPr id="5" name="animate-review-values">
            <a:extLst>
              <a:ext uri="{FF2B5EF4-FFF2-40B4-BE49-F238E27FC236}">
                <a16:creationId xmlns:a16="http://schemas.microsoft.com/office/drawing/2014/main" id="{CE6DD1C5-C9F4-4E45-9C3A-125C95FAF998}"/>
              </a:ext>
            </a:extLst>
          </p:cNvPr>
          <p:cNvSpPr>
            <a:spLocks noGrp="1"/>
          </p:cNvSpPr>
          <p:nvPr/>
        </p:nvSpPr>
        <p:spPr>
          <a:xfrm>
            <a:off x="3676650" y="46672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F86A5"/>
                </a:solidFill>
              </a:defRPr>
            </a:pPr>
            <a:r>
              <a:rPr sz="1350" b="1">
                <a:solidFill>
                  <a:srgbClr val="6F86A5"/>
                </a:solidFill>
              </a:rPr>
              <a:t>System: 35 boxes    Counted: 15 boxes    Difference: −20</a:t>
            </a:r>
          </a:p>
        </p:txBody>
      </p:sp>
      <p:sp>
        <p:nvSpPr>
          <p:cNvPr id="6" name="approve-button">
            <a:extLst>
              <a:ext uri="{FF2B5EF4-FFF2-40B4-BE49-F238E27FC236}">
                <a16:creationId xmlns:a16="http://schemas.microsoft.com/office/drawing/2014/main" id="{22D78438-7D0B-45F7-939B-846D668DD841}"/>
              </a:ext>
            </a:extLst>
          </p:cNvPr>
          <p:cNvSpPr>
            <a:spLocks noGrp="1"/>
          </p:cNvSpPr>
          <p:nvPr/>
        </p:nvSpPr>
        <p:spPr>
          <a:xfrm>
            <a:off x="3676650" y="5124450"/>
            <a:ext cx="2286000" cy="400050"/>
          </a:xfrm>
          <a:prstGeom prst="roundRect">
            <a:avLst>
              <a:gd name="adj" fmla="val 19048"/>
            </a:avLst>
          </a:prstGeom>
          <a:solidFill>
            <a:srgbClr val="12966F"/>
          </a:solidFill>
          <a:ln w="0">
            <a:noFill/>
            <a:prstDash val="solid"/>
          </a:ln>
        </p:spPr>
      </p:sp>
      <p:sp>
        <p:nvSpPr>
          <p:cNvPr id="7" name="approve-button-text">
            <a:extLst>
              <a:ext uri="{FF2B5EF4-FFF2-40B4-BE49-F238E27FC236}">
                <a16:creationId xmlns:a16="http://schemas.microsoft.com/office/drawing/2014/main" id="{4C2CB6A8-0EBC-4942-A7B4-E8295B637B91}"/>
              </a:ext>
            </a:extLst>
          </p:cNvPr>
          <p:cNvSpPr>
            <a:spLocks noGrp="1"/>
          </p:cNvSpPr>
          <p:nvPr/>
        </p:nvSpPr>
        <p:spPr>
          <a:xfrm>
            <a:off x="3790950" y="5219700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APPROVE AND POST</a:t>
            </a:r>
          </a:p>
        </p:txBody>
      </p:sp>
      <p:sp>
        <p:nvSpPr>
          <p:cNvPr id="8" name="recount-button">
            <a:extLst>
              <a:ext uri="{FF2B5EF4-FFF2-40B4-BE49-F238E27FC236}">
                <a16:creationId xmlns:a16="http://schemas.microsoft.com/office/drawing/2014/main" id="{28276DA1-A859-4691-8D9A-5B155438F687}"/>
              </a:ext>
            </a:extLst>
          </p:cNvPr>
          <p:cNvSpPr>
            <a:spLocks noGrp="1"/>
          </p:cNvSpPr>
          <p:nvPr/>
        </p:nvSpPr>
        <p:spPr>
          <a:xfrm>
            <a:off x="6134100" y="5124450"/>
            <a:ext cx="2076450" cy="400050"/>
          </a:xfrm>
          <a:prstGeom prst="roundRect">
            <a:avLst>
              <a:gd name="adj" fmla="val 19048"/>
            </a:avLst>
          </a:prstGeom>
          <a:solidFill>
            <a:srgbClr val="FFF0D6"/>
          </a:solidFill>
          <a:ln w="0">
            <a:noFill/>
            <a:prstDash val="solid"/>
          </a:ln>
        </p:spPr>
      </p:sp>
      <p:sp>
        <p:nvSpPr>
          <p:cNvPr id="9" name="recount-button-text">
            <a:extLst>
              <a:ext uri="{FF2B5EF4-FFF2-40B4-BE49-F238E27FC236}">
                <a16:creationId xmlns:a16="http://schemas.microsoft.com/office/drawing/2014/main" id="{1F81899A-EE8E-46A0-8A74-4C2DCE04FFAC}"/>
              </a:ext>
            </a:extLst>
          </p:cNvPr>
          <p:cNvSpPr>
            <a:spLocks noGrp="1"/>
          </p:cNvSpPr>
          <p:nvPr/>
        </p:nvSpPr>
        <p:spPr>
          <a:xfrm>
            <a:off x="6248400" y="5219700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87570C"/>
                </a:solidFill>
              </a:defRPr>
            </a:pPr>
            <a:r>
              <a:rPr sz="1050" b="1">
                <a:solidFill>
                  <a:srgbClr val="87570C"/>
                </a:solidFill>
              </a:rPr>
              <a:t>REQUEST RECOUNT</a:t>
            </a:r>
          </a:p>
        </p:txBody>
      </p:sp>
      <p:sp>
        <p:nvSpPr>
          <p:cNvPr id="10" name="reject-button">
            <a:extLst>
              <a:ext uri="{FF2B5EF4-FFF2-40B4-BE49-F238E27FC236}">
                <a16:creationId xmlns:a16="http://schemas.microsoft.com/office/drawing/2014/main" id="{894370A2-E806-4E1A-985B-3DC4D48A9929}"/>
              </a:ext>
            </a:extLst>
          </p:cNvPr>
          <p:cNvSpPr>
            <a:spLocks noGrp="1"/>
          </p:cNvSpPr>
          <p:nvPr/>
        </p:nvSpPr>
        <p:spPr>
          <a:xfrm>
            <a:off x="8382000" y="512445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FBE6E4"/>
          </a:solidFill>
          <a:ln w="0">
            <a:noFill/>
            <a:prstDash val="solid"/>
          </a:ln>
        </p:spPr>
      </p:sp>
      <p:sp>
        <p:nvSpPr>
          <p:cNvPr id="11" name="reject-button-text">
            <a:extLst>
              <a:ext uri="{FF2B5EF4-FFF2-40B4-BE49-F238E27FC236}">
                <a16:creationId xmlns:a16="http://schemas.microsoft.com/office/drawing/2014/main" id="{5D388EFC-EBC2-49F6-8707-54FDC8D86F5D}"/>
              </a:ext>
            </a:extLst>
          </p:cNvPr>
          <p:cNvSpPr>
            <a:spLocks noGrp="1"/>
          </p:cNvSpPr>
          <p:nvPr/>
        </p:nvSpPr>
        <p:spPr>
          <a:xfrm>
            <a:off x="8496300" y="5219700"/>
            <a:ext cx="1200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D84B45"/>
                </a:solidFill>
              </a:defRPr>
            </a:pPr>
            <a:r>
              <a:rPr sz="1050" b="1">
                <a:solidFill>
                  <a:srgbClr val="D84B45"/>
                </a:solidFill>
              </a:rPr>
              <a:t>REJECT</a:t>
            </a:r>
          </a:p>
        </p:txBody>
      </p:sp>
      <p:sp>
        <p:nvSpPr>
          <p:cNvPr id="12" name="animate-click-ring">
            <a:extLst>
              <a:ext uri="{FF2B5EF4-FFF2-40B4-BE49-F238E27FC236}">
                <a16:creationId xmlns:a16="http://schemas.microsoft.com/office/drawing/2014/main" id="{CDBCA364-FDC2-4433-A618-1023651EF384}"/>
              </a:ext>
            </a:extLst>
          </p:cNvPr>
          <p:cNvSpPr>
            <a:spLocks noGrp="1"/>
          </p:cNvSpPr>
          <p:nvPr/>
        </p:nvSpPr>
        <p:spPr>
          <a:xfrm>
            <a:off x="5276850" y="50482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246BFD"/>
            </a:solidFill>
            <a:prstDash val="solid"/>
          </a:ln>
        </p:spPr>
      </p:sp>
      <p:sp>
        <p:nvSpPr>
          <p:cNvPr id="13" name="animate-click-dot">
            <a:extLst>
              <a:ext uri="{FF2B5EF4-FFF2-40B4-BE49-F238E27FC236}">
                <a16:creationId xmlns:a16="http://schemas.microsoft.com/office/drawing/2014/main" id="{F4B930C8-8663-4762-A614-888D6D93A912}"/>
              </a:ext>
            </a:extLst>
          </p:cNvPr>
          <p:cNvSpPr>
            <a:spLocks noGrp="1"/>
          </p:cNvSpPr>
          <p:nvPr/>
        </p:nvSpPr>
        <p:spPr>
          <a:xfrm>
            <a:off x="5448300" y="5219700"/>
            <a:ext cx="190500" cy="190500"/>
          </a:xfrm>
          <a:prstGeom prst="roundRect">
            <a:avLst>
              <a:gd name="adj" fmla="val 4000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14" name="animate-click-label">
            <a:extLst>
              <a:ext uri="{FF2B5EF4-FFF2-40B4-BE49-F238E27FC236}">
                <a16:creationId xmlns:a16="http://schemas.microsoft.com/office/drawing/2014/main" id="{9153BD89-7836-401B-8B83-A452D5F93E0D}"/>
              </a:ext>
            </a:extLst>
          </p:cNvPr>
          <p:cNvSpPr>
            <a:spLocks noGrp="1"/>
          </p:cNvSpPr>
          <p:nvPr/>
        </p:nvSpPr>
        <p:spPr>
          <a:xfrm>
            <a:off x="4743450" y="567690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Manager selects Approve</a:t>
            </a:r>
          </a:p>
        </p:txBody>
      </p:sp>
      <p:sp>
        <p:nvSpPr>
          <p:cNvPr id="15" name="subtitle-bg">
            <a:extLst>
              <a:ext uri="{FF2B5EF4-FFF2-40B4-BE49-F238E27FC236}">
                <a16:creationId xmlns:a16="http://schemas.microsoft.com/office/drawing/2014/main" id="{2CF9A390-3921-4639-A9BA-15A6EF4A5F9E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16" name="subtitle-text">
            <a:extLst>
              <a:ext uri="{FF2B5EF4-FFF2-40B4-BE49-F238E27FC236}">
                <a16:creationId xmlns:a16="http://schemas.microsoft.com/office/drawing/2014/main" id="{32D44ECC-A38A-463B-98D1-54017D0DBC29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The manager reviews the difference and selects Approve and Post.</a:t>
            </a:r>
          </a:p>
        </p:txBody>
      </p:sp>
      <p:pic>
        <p:nvPicPr>
          <p:cNvPr id="18" name="narration-08">
            <a:hlinkClick r:id="" action="ppaction://media"/>
            <a:extLst>
              <a:ext uri="{FF2B5EF4-FFF2-40B4-BE49-F238E27FC236}">
                <a16:creationId xmlns:a16="http://schemas.microsoft.com/office/drawing/2014/main" id="{561B59B8-D726-777D-74D4-A5C3E39324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  <p:pic>
        <p:nvPicPr>
          <p:cNvPr id="19" name="confirm">
            <a:hlinkClick r:id="" action="ppaction://media"/>
            <a:extLst>
              <a:ext uri="{FF2B5EF4-FFF2-40B4-BE49-F238E27FC236}">
                <a16:creationId xmlns:a16="http://schemas.microsoft.com/office/drawing/2014/main" id="{412A8326-6085-87AC-0C53-B2F3D2609CF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851525" y="3184525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18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>
        <p:fade/>
      </p:transition>
    </mc:Choice>
    <mc:Fallback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67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5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rcRect t="2502" b="25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approval-overlay">
            <a:extLst>
              <a:ext uri="{FF2B5EF4-FFF2-40B4-BE49-F238E27FC236}">
                <a16:creationId xmlns:a16="http://schemas.microsoft.com/office/drawing/2014/main" id="{78716AC6-D8B6-4C1B-848A-950C4E9013C8}"/>
              </a:ext>
            </a:extLst>
          </p:cNvPr>
          <p:cNvSpPr>
            <a:spLocks noGrp="1"/>
          </p:cNvSpPr>
          <p:nvPr/>
        </p:nvSpPr>
        <p:spPr>
          <a:xfrm>
            <a:off x="3390900" y="2247900"/>
            <a:ext cx="7848600" cy="2781300"/>
          </a:xfrm>
          <a:prstGeom prst="roundRect">
            <a:avLst>
              <a:gd name="adj" fmla="val 2740"/>
            </a:avLst>
          </a:prstGeom>
          <a:solidFill>
            <a:srgbClr val="EAF8F3"/>
          </a:solidFill>
          <a:ln w="9525">
            <a:solidFill>
              <a:srgbClr val="80D4B5"/>
            </a:solidFill>
            <a:prstDash val="solid"/>
          </a:ln>
        </p:spPr>
      </p:sp>
      <p:sp>
        <p:nvSpPr>
          <p:cNvPr id="3" name="animate-check">
            <a:extLst>
              <a:ext uri="{FF2B5EF4-FFF2-40B4-BE49-F238E27FC236}">
                <a16:creationId xmlns:a16="http://schemas.microsoft.com/office/drawing/2014/main" id="{138C771A-2AC5-462F-86D4-5C2D067669EA}"/>
              </a:ext>
            </a:extLst>
          </p:cNvPr>
          <p:cNvSpPr>
            <a:spLocks noGrp="1"/>
          </p:cNvSpPr>
          <p:nvPr/>
        </p:nvSpPr>
        <p:spPr>
          <a:xfrm>
            <a:off x="3829050" y="2705100"/>
            <a:ext cx="95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800" b="1">
                <a:solidFill>
                  <a:srgbClr val="12966F"/>
                </a:solidFill>
              </a:defRPr>
            </a:pPr>
            <a:r>
              <a:rPr sz="4800" b="1">
                <a:solidFill>
                  <a:srgbClr val="12966F"/>
                </a:solidFill>
              </a:rPr>
              <a:t>✓</a:t>
            </a:r>
          </a:p>
        </p:txBody>
      </p:sp>
      <p:sp>
        <p:nvSpPr>
          <p:cNvPr id="4" name="animate-approved-title">
            <a:extLst>
              <a:ext uri="{FF2B5EF4-FFF2-40B4-BE49-F238E27FC236}">
                <a16:creationId xmlns:a16="http://schemas.microsoft.com/office/drawing/2014/main" id="{A207D17D-17D0-4B92-9255-2BFD028137CB}"/>
              </a:ext>
            </a:extLst>
          </p:cNvPr>
          <p:cNvSpPr>
            <a:spLocks noGrp="1"/>
          </p:cNvSpPr>
          <p:nvPr/>
        </p:nvSpPr>
        <p:spPr>
          <a:xfrm>
            <a:off x="4991100" y="2724150"/>
            <a:ext cx="561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02A52"/>
                </a:solidFill>
              </a:defRPr>
            </a:pPr>
            <a:r>
              <a:rPr sz="2325" b="1">
                <a:solidFill>
                  <a:srgbClr val="102A52"/>
                </a:solidFill>
              </a:rPr>
              <a:t>Adjustment approved and posted</a:t>
            </a:r>
          </a:p>
        </p:txBody>
      </p:sp>
      <p:sp>
        <p:nvSpPr>
          <p:cNvPr id="5" name="animate-approved-body">
            <a:extLst>
              <a:ext uri="{FF2B5EF4-FFF2-40B4-BE49-F238E27FC236}">
                <a16:creationId xmlns:a16="http://schemas.microsoft.com/office/drawing/2014/main" id="{6A06CF5E-8D1B-4491-8F4A-E54DC833FCD7}"/>
              </a:ext>
            </a:extLst>
          </p:cNvPr>
          <p:cNvSpPr>
            <a:spLocks noGrp="1"/>
          </p:cNvSpPr>
          <p:nvPr/>
        </p:nvSpPr>
        <p:spPr>
          <a:xfrm>
            <a:off x="4991100" y="3371850"/>
            <a:ext cx="5429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2A52"/>
                </a:solidFill>
              </a:defRPr>
            </a:pPr>
            <a:r>
              <a:rPr sz="1650" b="1">
                <a:solidFill>
                  <a:srgbClr val="102A52"/>
                </a:solidFill>
              </a:rPr>
              <a:t>Available stock updated: 35 → 15 boxes</a:t>
            </a:r>
          </a:p>
          <a:p>
            <a:pPr algn="l">
              <a:defRPr sz="1650" b="1">
                <a:solidFill>
                  <a:srgbClr val="102A52"/>
                </a:solidFill>
              </a:defRPr>
            </a:pPr>
            <a:r>
              <a:rPr sz="1650" b="1">
                <a:solidFill>
                  <a:srgbClr val="102A52"/>
                </a:solidFill>
              </a:rPr>
              <a:t>Pending approvals updated: 1 → 0</a:t>
            </a:r>
          </a:p>
        </p:txBody>
      </p:sp>
      <p:sp>
        <p:nvSpPr>
          <p:cNvPr id="6" name="animate-db">
            <a:extLst>
              <a:ext uri="{FF2B5EF4-FFF2-40B4-BE49-F238E27FC236}">
                <a16:creationId xmlns:a16="http://schemas.microsoft.com/office/drawing/2014/main" id="{352C5923-E0B2-4DE0-9D7B-0F646CE880DC}"/>
              </a:ext>
            </a:extLst>
          </p:cNvPr>
          <p:cNvSpPr>
            <a:spLocks noGrp="1"/>
          </p:cNvSpPr>
          <p:nvPr/>
        </p:nvSpPr>
        <p:spPr>
          <a:xfrm>
            <a:off x="4991100" y="4305300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12966F"/>
          </a:solidFill>
          <a:ln w="0">
            <a:noFill/>
            <a:prstDash val="solid"/>
          </a:ln>
        </p:spPr>
      </p:sp>
      <p:sp>
        <p:nvSpPr>
          <p:cNvPr id="7" name="animate-db-text">
            <a:extLst>
              <a:ext uri="{FF2B5EF4-FFF2-40B4-BE49-F238E27FC236}">
                <a16:creationId xmlns:a16="http://schemas.microsoft.com/office/drawing/2014/main" id="{D93E960E-1A20-4843-ACEB-FB83CC43C45F}"/>
              </a:ext>
            </a:extLst>
          </p:cNvPr>
          <p:cNvSpPr>
            <a:spLocks noGrp="1"/>
          </p:cNvSpPr>
          <p:nvPr/>
        </p:nvSpPr>
        <p:spPr>
          <a:xfrm>
            <a:off x="5105400" y="440055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POSTGRESQL UPDATED</a:t>
            </a:r>
          </a:p>
        </p:txBody>
      </p:sp>
      <p:sp>
        <p:nvSpPr>
          <p:cNvPr id="8" name="subtitle-bg">
            <a:extLst>
              <a:ext uri="{FF2B5EF4-FFF2-40B4-BE49-F238E27FC236}">
                <a16:creationId xmlns:a16="http://schemas.microsoft.com/office/drawing/2014/main" id="{23E1355F-B5F1-4D1F-BA25-F471184B08A3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9" name="subtitle-text">
            <a:extLst>
              <a:ext uri="{FF2B5EF4-FFF2-40B4-BE49-F238E27FC236}">
                <a16:creationId xmlns:a16="http://schemas.microsoft.com/office/drawing/2014/main" id="{3307F1CF-694D-447E-9FA2-E93350C38BE3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The stock balance and manager KPIs update immediately after approval.</a:t>
            </a:r>
          </a:p>
        </p:txBody>
      </p:sp>
      <p:pic>
        <p:nvPicPr>
          <p:cNvPr id="11" name="narration-09">
            <a:hlinkClick r:id="" action="ppaction://media"/>
            <a:extLst>
              <a:ext uri="{FF2B5EF4-FFF2-40B4-BE49-F238E27FC236}">
                <a16:creationId xmlns:a16="http://schemas.microsoft.com/office/drawing/2014/main" id="{18F3B272-6680-3535-045B-0B95EEDB23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39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>
        <p:fade/>
      </p:transition>
    </mc:Choice>
    <mc:Fallback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8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rcRect t="2502" b="25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order-side">
            <a:extLst>
              <a:ext uri="{FF2B5EF4-FFF2-40B4-BE49-F238E27FC236}">
                <a16:creationId xmlns:a16="http://schemas.microsoft.com/office/drawing/2014/main" id="{04A6EA0E-87A0-4632-941E-23CD226CD4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381500" cy="6248400"/>
          </a:xfrm>
          <a:prstGeom prst="roundRect">
            <a:avLst>
              <a:gd name="adj" fmla="val 1739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3" name="animate-eyebrow-Automatic reorder control">
            <a:extLst>
              <a:ext uri="{FF2B5EF4-FFF2-40B4-BE49-F238E27FC236}">
                <a16:creationId xmlns:a16="http://schemas.microsoft.com/office/drawing/2014/main" id="{F626E571-A428-46F2-992A-68848BBF5AB5}"/>
              </a:ext>
            </a:extLst>
          </p:cNvPr>
          <p:cNvSpPr>
            <a:spLocks noGrp="1"/>
          </p:cNvSpPr>
          <p:nvPr/>
        </p:nvSpPr>
        <p:spPr>
          <a:xfrm>
            <a:off x="419100" y="41910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5C5F0"/>
                </a:solidFill>
              </a:defRPr>
            </a:pPr>
            <a:r>
              <a:rPr sz="975" b="1">
                <a:solidFill>
                  <a:srgbClr val="35C5F0"/>
                </a:solidFill>
              </a:rPr>
              <a:t>AUTOMATIC REORDER CONTROL</a:t>
            </a:r>
          </a:p>
        </p:txBody>
      </p:sp>
      <p:sp>
        <p:nvSpPr>
          <p:cNvPr id="4" name="animate-title">
            <a:extLst>
              <a:ext uri="{FF2B5EF4-FFF2-40B4-BE49-F238E27FC236}">
                <a16:creationId xmlns:a16="http://schemas.microsoft.com/office/drawing/2014/main" id="{BE8E5268-BF11-4329-9ABE-88E9F3A1DA50}"/>
              </a:ext>
            </a:extLst>
          </p:cNvPr>
          <p:cNvSpPr>
            <a:spLocks noGrp="1"/>
          </p:cNvSpPr>
          <p:nvPr/>
        </p:nvSpPr>
        <p:spPr>
          <a:xfrm>
            <a:off x="419100" y="800100"/>
            <a:ext cx="3524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Low stock creates a purchase-order draft</a:t>
            </a:r>
          </a:p>
        </p:txBody>
      </p:sp>
      <p:sp>
        <p:nvSpPr>
          <p:cNvPr id="5" name="animate-reorder-label-0">
            <a:extLst>
              <a:ext uri="{FF2B5EF4-FFF2-40B4-BE49-F238E27FC236}">
                <a16:creationId xmlns:a16="http://schemas.microsoft.com/office/drawing/2014/main" id="{C3DE31BF-45CB-4CFF-9AE6-3034D810DC97}"/>
              </a:ext>
            </a:extLst>
          </p:cNvPr>
          <p:cNvSpPr>
            <a:spLocks noGrp="1"/>
          </p:cNvSpPr>
          <p:nvPr/>
        </p:nvSpPr>
        <p:spPr>
          <a:xfrm>
            <a:off x="419100" y="22669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88A7CB"/>
                </a:solidFill>
              </a:defRPr>
            </a:pPr>
            <a:r>
              <a:rPr sz="825" b="1">
                <a:solidFill>
                  <a:srgbClr val="88A7CB"/>
                </a:solidFill>
              </a:rPr>
              <a:t>AVAILABLE</a:t>
            </a:r>
          </a:p>
        </p:txBody>
      </p:sp>
      <p:sp>
        <p:nvSpPr>
          <p:cNvPr id="6" name="animate-reorder-value-0">
            <a:extLst>
              <a:ext uri="{FF2B5EF4-FFF2-40B4-BE49-F238E27FC236}">
                <a16:creationId xmlns:a16="http://schemas.microsoft.com/office/drawing/2014/main" id="{750537B7-299C-404D-BC88-7EEDCC097D90}"/>
              </a:ext>
            </a:extLst>
          </p:cNvPr>
          <p:cNvSpPr>
            <a:spLocks noGrp="1"/>
          </p:cNvSpPr>
          <p:nvPr/>
        </p:nvSpPr>
        <p:spPr>
          <a:xfrm>
            <a:off x="1981200" y="220980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CE7A"/>
                </a:solidFill>
              </a:defRPr>
            </a:pPr>
            <a:r>
              <a:rPr sz="1425" b="1">
                <a:solidFill>
                  <a:srgbClr val="FFCE7A"/>
                </a:solidFill>
              </a:rPr>
              <a:t>15 boxes</a:t>
            </a:r>
          </a:p>
        </p:txBody>
      </p:sp>
      <p:sp>
        <p:nvSpPr>
          <p:cNvPr id="7" name="animate-reorder-label-1">
            <a:extLst>
              <a:ext uri="{FF2B5EF4-FFF2-40B4-BE49-F238E27FC236}">
                <a16:creationId xmlns:a16="http://schemas.microsoft.com/office/drawing/2014/main" id="{7CD3C134-DC16-4B27-A053-4A2D4E4C61C2}"/>
              </a:ext>
            </a:extLst>
          </p:cNvPr>
          <p:cNvSpPr>
            <a:spLocks noGrp="1"/>
          </p:cNvSpPr>
          <p:nvPr/>
        </p:nvSpPr>
        <p:spPr>
          <a:xfrm>
            <a:off x="419100" y="29527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88A7CB"/>
                </a:solidFill>
              </a:defRPr>
            </a:pPr>
            <a:r>
              <a:rPr sz="825" b="1">
                <a:solidFill>
                  <a:srgbClr val="88A7CB"/>
                </a:solidFill>
              </a:rPr>
              <a:t>SAFETY STOCK</a:t>
            </a:r>
          </a:p>
        </p:txBody>
      </p:sp>
      <p:sp>
        <p:nvSpPr>
          <p:cNvPr id="8" name="animate-reorder-value-1">
            <a:extLst>
              <a:ext uri="{FF2B5EF4-FFF2-40B4-BE49-F238E27FC236}">
                <a16:creationId xmlns:a16="http://schemas.microsoft.com/office/drawing/2014/main" id="{EF475FDF-0514-4E64-B860-EBA4CAD76B1D}"/>
              </a:ext>
            </a:extLst>
          </p:cNvPr>
          <p:cNvSpPr>
            <a:spLocks noGrp="1"/>
          </p:cNvSpPr>
          <p:nvPr/>
        </p:nvSpPr>
        <p:spPr>
          <a:xfrm>
            <a:off x="1981200" y="289560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40 boxes</a:t>
            </a:r>
          </a:p>
        </p:txBody>
      </p:sp>
      <p:sp>
        <p:nvSpPr>
          <p:cNvPr id="9" name="animate-reorder-label-2">
            <a:extLst>
              <a:ext uri="{FF2B5EF4-FFF2-40B4-BE49-F238E27FC236}">
                <a16:creationId xmlns:a16="http://schemas.microsoft.com/office/drawing/2014/main" id="{9DCE7E5B-64DE-4B7F-8277-AC51621D9889}"/>
              </a:ext>
            </a:extLst>
          </p:cNvPr>
          <p:cNvSpPr>
            <a:spLocks noGrp="1"/>
          </p:cNvSpPr>
          <p:nvPr/>
        </p:nvSpPr>
        <p:spPr>
          <a:xfrm>
            <a:off x="419100" y="36385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88A7CB"/>
                </a:solidFill>
              </a:defRPr>
            </a:pPr>
            <a:r>
              <a:rPr sz="825" b="1">
                <a:solidFill>
                  <a:srgbClr val="88A7CB"/>
                </a:solidFill>
              </a:rPr>
              <a:t>SUGGESTED ORDER</a:t>
            </a:r>
          </a:p>
        </p:txBody>
      </p:sp>
      <p:sp>
        <p:nvSpPr>
          <p:cNvPr id="10" name="animate-reorder-value-2">
            <a:extLst>
              <a:ext uri="{FF2B5EF4-FFF2-40B4-BE49-F238E27FC236}">
                <a16:creationId xmlns:a16="http://schemas.microsoft.com/office/drawing/2014/main" id="{B84BA934-E7AA-4F75-8791-0B94429EDA82}"/>
              </a:ext>
            </a:extLst>
          </p:cNvPr>
          <p:cNvSpPr>
            <a:spLocks noGrp="1"/>
          </p:cNvSpPr>
          <p:nvPr/>
        </p:nvSpPr>
        <p:spPr>
          <a:xfrm>
            <a:off x="1981200" y="358140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80 boxes</a:t>
            </a:r>
          </a:p>
        </p:txBody>
      </p:sp>
      <p:sp>
        <p:nvSpPr>
          <p:cNvPr id="11" name="animate-reorder-label-3">
            <a:extLst>
              <a:ext uri="{FF2B5EF4-FFF2-40B4-BE49-F238E27FC236}">
                <a16:creationId xmlns:a16="http://schemas.microsoft.com/office/drawing/2014/main" id="{12C90BED-3203-48A0-8D5D-4E77561A9735}"/>
              </a:ext>
            </a:extLst>
          </p:cNvPr>
          <p:cNvSpPr>
            <a:spLocks noGrp="1"/>
          </p:cNvSpPr>
          <p:nvPr/>
        </p:nvSpPr>
        <p:spPr>
          <a:xfrm>
            <a:off x="419100" y="4324350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88A7CB"/>
                </a:solidFill>
              </a:defRPr>
            </a:pPr>
            <a:r>
              <a:rPr sz="825" b="1">
                <a:solidFill>
                  <a:srgbClr val="88A7CB"/>
                </a:solidFill>
              </a:rPr>
              <a:t>SUPPLIER</a:t>
            </a:r>
          </a:p>
        </p:txBody>
      </p:sp>
      <p:sp>
        <p:nvSpPr>
          <p:cNvPr id="12" name="animate-reorder-value-3">
            <a:extLst>
              <a:ext uri="{FF2B5EF4-FFF2-40B4-BE49-F238E27FC236}">
                <a16:creationId xmlns:a16="http://schemas.microsoft.com/office/drawing/2014/main" id="{0FEF7C5B-9825-4FCB-87FA-3B39EC8D12DE}"/>
              </a:ext>
            </a:extLst>
          </p:cNvPr>
          <p:cNvSpPr>
            <a:spLocks noGrp="1"/>
          </p:cNvSpPr>
          <p:nvPr/>
        </p:nvSpPr>
        <p:spPr>
          <a:xfrm>
            <a:off x="1981200" y="426720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SafeHands Industrial</a:t>
            </a:r>
          </a:p>
        </p:txBody>
      </p:sp>
      <p:sp>
        <p:nvSpPr>
          <p:cNvPr id="13" name="animate-po">
            <a:extLst>
              <a:ext uri="{FF2B5EF4-FFF2-40B4-BE49-F238E27FC236}">
                <a16:creationId xmlns:a16="http://schemas.microsoft.com/office/drawing/2014/main" id="{9B58356F-0099-4A6A-9134-B98E1B5F91AB}"/>
              </a:ext>
            </a:extLst>
          </p:cNvPr>
          <p:cNvSpPr>
            <a:spLocks noGrp="1"/>
          </p:cNvSpPr>
          <p:nvPr/>
        </p:nvSpPr>
        <p:spPr>
          <a:xfrm>
            <a:off x="419100" y="5105400"/>
            <a:ext cx="3143250" cy="400050"/>
          </a:xfrm>
          <a:prstGeom prst="roundRect">
            <a:avLst>
              <a:gd name="adj" fmla="val 19048"/>
            </a:avLst>
          </a:prstGeom>
          <a:solidFill>
            <a:srgbClr val="E88A00"/>
          </a:solidFill>
          <a:ln w="0">
            <a:noFill/>
            <a:prstDash val="solid"/>
          </a:ln>
        </p:spPr>
      </p:sp>
      <p:sp>
        <p:nvSpPr>
          <p:cNvPr id="14" name="animate-po-text">
            <a:extLst>
              <a:ext uri="{FF2B5EF4-FFF2-40B4-BE49-F238E27FC236}">
                <a16:creationId xmlns:a16="http://schemas.microsoft.com/office/drawing/2014/main" id="{71B731FD-C2C4-46DB-8610-0A91E4377FBB}"/>
              </a:ext>
            </a:extLst>
          </p:cNvPr>
          <p:cNvSpPr>
            <a:spLocks noGrp="1"/>
          </p:cNvSpPr>
          <p:nvPr/>
        </p:nvSpPr>
        <p:spPr>
          <a:xfrm>
            <a:off x="533400" y="5200650"/>
            <a:ext cx="2914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PO DRAFT • PO-2026-0815</a:t>
            </a:r>
          </a:p>
        </p:txBody>
      </p:sp>
      <p:sp>
        <p:nvSpPr>
          <p:cNvPr id="15" name="email-card">
            <a:extLst>
              <a:ext uri="{FF2B5EF4-FFF2-40B4-BE49-F238E27FC236}">
                <a16:creationId xmlns:a16="http://schemas.microsoft.com/office/drawing/2014/main" id="{1B24B829-7859-4D13-B2FA-2C9237DB9743}"/>
              </a:ext>
            </a:extLst>
          </p:cNvPr>
          <p:cNvSpPr>
            <a:spLocks noGrp="1"/>
          </p:cNvSpPr>
          <p:nvPr/>
        </p:nvSpPr>
        <p:spPr>
          <a:xfrm>
            <a:off x="7677150" y="4419600"/>
            <a:ext cx="3848100" cy="1162050"/>
          </a:xfrm>
          <a:prstGeom prst="roundRect">
            <a:avLst>
              <a:gd name="adj" fmla="val 6557"/>
            </a:avLst>
          </a:prstGeom>
          <a:solidFill>
            <a:srgbClr val="EAF8F3"/>
          </a:solidFill>
          <a:ln w="9525">
            <a:solidFill>
              <a:srgbClr val="7ED3B2"/>
            </a:solidFill>
            <a:prstDash val="solid"/>
          </a:ln>
        </p:spPr>
      </p:sp>
      <p:sp>
        <p:nvSpPr>
          <p:cNvPr id="16" name="animate-email-label">
            <a:extLst>
              <a:ext uri="{FF2B5EF4-FFF2-40B4-BE49-F238E27FC236}">
                <a16:creationId xmlns:a16="http://schemas.microsoft.com/office/drawing/2014/main" id="{A6B62AA0-E1E2-4C93-A238-422F9B035047}"/>
              </a:ext>
            </a:extLst>
          </p:cNvPr>
          <p:cNvSpPr>
            <a:spLocks noGrp="1"/>
          </p:cNvSpPr>
          <p:nvPr/>
        </p:nvSpPr>
        <p:spPr>
          <a:xfrm>
            <a:off x="7943850" y="46291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12966F"/>
                </a:solidFill>
              </a:defRPr>
            </a:pPr>
            <a:r>
              <a:rPr sz="825" b="1">
                <a:solidFill>
                  <a:srgbClr val="12966F"/>
                </a:solidFill>
              </a:rPr>
              <a:t>AFTER MANAGER APPROVAL</a:t>
            </a:r>
          </a:p>
        </p:txBody>
      </p:sp>
      <p:sp>
        <p:nvSpPr>
          <p:cNvPr id="17" name="animate-email">
            <a:extLst>
              <a:ext uri="{FF2B5EF4-FFF2-40B4-BE49-F238E27FC236}">
                <a16:creationId xmlns:a16="http://schemas.microsoft.com/office/drawing/2014/main" id="{8A53B6CF-B82F-4137-8B17-4AADB2677E5B}"/>
              </a:ext>
            </a:extLst>
          </p:cNvPr>
          <p:cNvSpPr>
            <a:spLocks noGrp="1"/>
          </p:cNvSpPr>
          <p:nvPr/>
        </p:nvSpPr>
        <p:spPr>
          <a:xfrm>
            <a:off x="7943850" y="50101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A52"/>
                </a:solidFill>
              </a:defRPr>
            </a:pPr>
            <a:r>
              <a:rPr sz="1500" b="1">
                <a:solidFill>
                  <a:srgbClr val="102A52"/>
                </a:solidFill>
              </a:rPr>
              <a:t>Supplier email queued  →  Sent ✓</a:t>
            </a:r>
          </a:p>
        </p:txBody>
      </p:sp>
      <p:sp>
        <p:nvSpPr>
          <p:cNvPr id="18" name="subtitle-bg">
            <a:extLst>
              <a:ext uri="{FF2B5EF4-FFF2-40B4-BE49-F238E27FC236}">
                <a16:creationId xmlns:a16="http://schemas.microsoft.com/office/drawing/2014/main" id="{49D9216E-62AB-4ACC-894C-EB8D29F985DD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19" name="subtitle-text">
            <a:extLst>
              <a:ext uri="{FF2B5EF4-FFF2-40B4-BE49-F238E27FC236}">
                <a16:creationId xmlns:a16="http://schemas.microsoft.com/office/drawing/2014/main" id="{FC134179-723E-4883-96CB-B81BF4E551CD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Because 15 is below the safety stock of 40, the system drafts an order for 80 boxes.</a:t>
            </a:r>
          </a:p>
        </p:txBody>
      </p:sp>
      <p:pic>
        <p:nvPicPr>
          <p:cNvPr id="21" name="narration-10">
            <a:hlinkClick r:id="" action="ppaction://media"/>
            <a:extLst>
              <a:ext uri="{FF2B5EF4-FFF2-40B4-BE49-F238E27FC236}">
                <a16:creationId xmlns:a16="http://schemas.microsoft.com/office/drawing/2014/main" id="{494D64BB-38CC-2614-984C-387B283C30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63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fade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17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rcRect t="27191" b="271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audit-overlay">
            <a:extLst>
              <a:ext uri="{FF2B5EF4-FFF2-40B4-BE49-F238E27FC236}">
                <a16:creationId xmlns:a16="http://schemas.microsoft.com/office/drawing/2014/main" id="{010AF576-3092-44CB-A538-BDC1268FCC74}"/>
              </a:ext>
            </a:extLst>
          </p:cNvPr>
          <p:cNvSpPr>
            <a:spLocks noGrp="1"/>
          </p:cNvSpPr>
          <p:nvPr/>
        </p:nvSpPr>
        <p:spPr>
          <a:xfrm>
            <a:off x="3162300" y="1619250"/>
            <a:ext cx="847725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B9CCE5"/>
            </a:solidFill>
            <a:prstDash val="solid"/>
          </a:ln>
        </p:spPr>
      </p:sp>
      <p:sp>
        <p:nvSpPr>
          <p:cNvPr id="3" name="animate-eyebrow-Complete accountability">
            <a:extLst>
              <a:ext uri="{FF2B5EF4-FFF2-40B4-BE49-F238E27FC236}">
                <a16:creationId xmlns:a16="http://schemas.microsoft.com/office/drawing/2014/main" id="{D2594745-E0AC-4B11-B73B-DC9D93C1D873}"/>
              </a:ext>
            </a:extLst>
          </p:cNvPr>
          <p:cNvSpPr>
            <a:spLocks noGrp="1"/>
          </p:cNvSpPr>
          <p:nvPr/>
        </p:nvSpPr>
        <p:spPr>
          <a:xfrm>
            <a:off x="3467100" y="18859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46BFD"/>
                </a:solidFill>
              </a:defRPr>
            </a:pPr>
            <a:r>
              <a:rPr sz="975" b="1">
                <a:solidFill>
                  <a:srgbClr val="246BFD"/>
                </a:solidFill>
              </a:rPr>
              <a:t>COMPLETE ACCOUNTABILITY</a:t>
            </a:r>
          </a:p>
        </p:txBody>
      </p:sp>
      <p:sp>
        <p:nvSpPr>
          <p:cNvPr id="4" name="animate-title">
            <a:extLst>
              <a:ext uri="{FF2B5EF4-FFF2-40B4-BE49-F238E27FC236}">
                <a16:creationId xmlns:a16="http://schemas.microsoft.com/office/drawing/2014/main" id="{FD94057B-21DE-493B-AA23-6ABE5534526E}"/>
              </a:ext>
            </a:extLst>
          </p:cNvPr>
          <p:cNvSpPr>
            <a:spLocks noGrp="1"/>
          </p:cNvSpPr>
          <p:nvPr/>
        </p:nvSpPr>
        <p:spPr>
          <a:xfrm>
            <a:off x="3467100" y="22479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02A52"/>
                </a:solidFill>
              </a:defRPr>
            </a:pPr>
            <a:r>
              <a:rPr sz="2625" b="1">
                <a:solidFill>
                  <a:srgbClr val="102A52"/>
                </a:solidFill>
              </a:rPr>
              <a:t>Every inventory decision is recorded</a:t>
            </a:r>
          </a:p>
        </p:txBody>
      </p:sp>
      <p:sp>
        <p:nvSpPr>
          <p:cNvPr id="5" name="animate-audit-label-0">
            <a:extLst>
              <a:ext uri="{FF2B5EF4-FFF2-40B4-BE49-F238E27FC236}">
                <a16:creationId xmlns:a16="http://schemas.microsoft.com/office/drawing/2014/main" id="{35EF11AB-36F8-4D70-A72F-A20100AA977B}"/>
              </a:ext>
            </a:extLst>
          </p:cNvPr>
          <p:cNvSpPr>
            <a:spLocks noGrp="1"/>
          </p:cNvSpPr>
          <p:nvPr/>
        </p:nvSpPr>
        <p:spPr>
          <a:xfrm>
            <a:off x="3467100" y="30099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F86A5"/>
                </a:solidFill>
              </a:defRPr>
            </a:pPr>
            <a:r>
              <a:rPr sz="750" b="1">
                <a:solidFill>
                  <a:srgbClr val="6F86A5"/>
                </a:solidFill>
              </a:rPr>
              <a:t>TRANSACTION</a:t>
            </a:r>
          </a:p>
        </p:txBody>
      </p:sp>
      <p:sp>
        <p:nvSpPr>
          <p:cNvPr id="6" name="animate-audit-value-0">
            <a:extLst>
              <a:ext uri="{FF2B5EF4-FFF2-40B4-BE49-F238E27FC236}">
                <a16:creationId xmlns:a16="http://schemas.microsoft.com/office/drawing/2014/main" id="{0A6B6537-F6FC-4AE4-A0D9-87D82A68F49F}"/>
              </a:ext>
            </a:extLst>
          </p:cNvPr>
          <p:cNvSpPr>
            <a:spLocks noGrp="1"/>
          </p:cNvSpPr>
          <p:nvPr/>
        </p:nvSpPr>
        <p:spPr>
          <a:xfrm>
            <a:off x="5048250" y="29432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52"/>
                </a:solidFill>
              </a:defRPr>
            </a:pPr>
            <a:r>
              <a:rPr sz="1275" b="1">
                <a:solidFill>
                  <a:srgbClr val="102A52"/>
                </a:solidFill>
              </a:rPr>
              <a:t>TX-ACBB174C</a:t>
            </a:r>
          </a:p>
        </p:txBody>
      </p:sp>
      <p:sp>
        <p:nvSpPr>
          <p:cNvPr id="7" name="animate-audit-label-1">
            <a:extLst>
              <a:ext uri="{FF2B5EF4-FFF2-40B4-BE49-F238E27FC236}">
                <a16:creationId xmlns:a16="http://schemas.microsoft.com/office/drawing/2014/main" id="{11928608-9D28-414C-8B6D-B05D61C7037F}"/>
              </a:ext>
            </a:extLst>
          </p:cNvPr>
          <p:cNvSpPr>
            <a:spLocks noGrp="1"/>
          </p:cNvSpPr>
          <p:nvPr/>
        </p:nvSpPr>
        <p:spPr>
          <a:xfrm>
            <a:off x="7372350" y="30099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F86A5"/>
                </a:solidFill>
              </a:defRPr>
            </a:pPr>
            <a:r>
              <a:rPr sz="750" b="1">
                <a:solidFill>
                  <a:srgbClr val="6F86A5"/>
                </a:solidFill>
              </a:rPr>
              <a:t>ACTION</a:t>
            </a:r>
          </a:p>
        </p:txBody>
      </p:sp>
      <p:sp>
        <p:nvSpPr>
          <p:cNvPr id="8" name="animate-audit-value-1">
            <a:extLst>
              <a:ext uri="{FF2B5EF4-FFF2-40B4-BE49-F238E27FC236}">
                <a16:creationId xmlns:a16="http://schemas.microsoft.com/office/drawing/2014/main" id="{9598431D-7E87-4795-9471-5810A249EE77}"/>
              </a:ext>
            </a:extLst>
          </p:cNvPr>
          <p:cNvSpPr>
            <a:spLocks noGrp="1"/>
          </p:cNvSpPr>
          <p:nvPr/>
        </p:nvSpPr>
        <p:spPr>
          <a:xfrm>
            <a:off x="8953500" y="29432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52"/>
                </a:solidFill>
              </a:defRPr>
            </a:pPr>
            <a:r>
              <a:rPr sz="1275" b="1">
                <a:solidFill>
                  <a:srgbClr val="102A52"/>
                </a:solidFill>
              </a:rPr>
              <a:t>Cycle count</a:t>
            </a:r>
          </a:p>
        </p:txBody>
      </p:sp>
      <p:sp>
        <p:nvSpPr>
          <p:cNvPr id="9" name="animate-audit-label-2">
            <a:extLst>
              <a:ext uri="{FF2B5EF4-FFF2-40B4-BE49-F238E27FC236}">
                <a16:creationId xmlns:a16="http://schemas.microsoft.com/office/drawing/2014/main" id="{AD25BEBD-98D0-40BA-A000-367F91C27207}"/>
              </a:ext>
            </a:extLst>
          </p:cNvPr>
          <p:cNvSpPr>
            <a:spLocks noGrp="1"/>
          </p:cNvSpPr>
          <p:nvPr/>
        </p:nvSpPr>
        <p:spPr>
          <a:xfrm>
            <a:off x="3467100" y="35433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F86A5"/>
                </a:solidFill>
              </a:defRPr>
            </a:pPr>
            <a:r>
              <a:rPr sz="750" b="1">
                <a:solidFill>
                  <a:srgbClr val="6F86A5"/>
                </a:solidFill>
              </a:rPr>
              <a:t>PRODUCT</a:t>
            </a:r>
          </a:p>
        </p:txBody>
      </p:sp>
      <p:sp>
        <p:nvSpPr>
          <p:cNvPr id="10" name="animate-audit-value-2">
            <a:extLst>
              <a:ext uri="{FF2B5EF4-FFF2-40B4-BE49-F238E27FC236}">
                <a16:creationId xmlns:a16="http://schemas.microsoft.com/office/drawing/2014/main" id="{BE90FE73-0E1D-4596-831A-B4512107F68C}"/>
              </a:ext>
            </a:extLst>
          </p:cNvPr>
          <p:cNvSpPr>
            <a:spLocks noGrp="1"/>
          </p:cNvSpPr>
          <p:nvPr/>
        </p:nvSpPr>
        <p:spPr>
          <a:xfrm>
            <a:off x="5048250" y="34766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52"/>
                </a:solidFill>
              </a:defRPr>
            </a:pPr>
            <a:r>
              <a:rPr sz="1275" b="1">
                <a:solidFill>
                  <a:srgbClr val="102A52"/>
                </a:solidFill>
              </a:rPr>
              <a:t>Nitrile Safety Gloves</a:t>
            </a:r>
          </a:p>
        </p:txBody>
      </p:sp>
      <p:sp>
        <p:nvSpPr>
          <p:cNvPr id="11" name="animate-audit-label-3">
            <a:extLst>
              <a:ext uri="{FF2B5EF4-FFF2-40B4-BE49-F238E27FC236}">
                <a16:creationId xmlns:a16="http://schemas.microsoft.com/office/drawing/2014/main" id="{72B5D856-6D05-4600-BEDC-B3BF2F8DCE3A}"/>
              </a:ext>
            </a:extLst>
          </p:cNvPr>
          <p:cNvSpPr>
            <a:spLocks noGrp="1"/>
          </p:cNvSpPr>
          <p:nvPr/>
        </p:nvSpPr>
        <p:spPr>
          <a:xfrm>
            <a:off x="7372350" y="35433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F86A5"/>
                </a:solidFill>
              </a:defRPr>
            </a:pPr>
            <a:r>
              <a:rPr sz="750" b="1">
                <a:solidFill>
                  <a:srgbClr val="6F86A5"/>
                </a:solidFill>
              </a:rPr>
              <a:t>PREVIOUS STOCK</a:t>
            </a:r>
          </a:p>
        </p:txBody>
      </p:sp>
      <p:sp>
        <p:nvSpPr>
          <p:cNvPr id="12" name="animate-audit-value-3">
            <a:extLst>
              <a:ext uri="{FF2B5EF4-FFF2-40B4-BE49-F238E27FC236}">
                <a16:creationId xmlns:a16="http://schemas.microsoft.com/office/drawing/2014/main" id="{3004B095-6F59-4CF4-BF99-417F56A37ABC}"/>
              </a:ext>
            </a:extLst>
          </p:cNvPr>
          <p:cNvSpPr>
            <a:spLocks noGrp="1"/>
          </p:cNvSpPr>
          <p:nvPr/>
        </p:nvSpPr>
        <p:spPr>
          <a:xfrm>
            <a:off x="8953500" y="34766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52"/>
                </a:solidFill>
              </a:defRPr>
            </a:pPr>
            <a:r>
              <a:rPr sz="1275" b="1">
                <a:solidFill>
                  <a:srgbClr val="102A52"/>
                </a:solidFill>
              </a:rPr>
              <a:t>35 boxes</a:t>
            </a:r>
          </a:p>
        </p:txBody>
      </p:sp>
      <p:sp>
        <p:nvSpPr>
          <p:cNvPr id="13" name="animate-audit-label-4">
            <a:extLst>
              <a:ext uri="{FF2B5EF4-FFF2-40B4-BE49-F238E27FC236}">
                <a16:creationId xmlns:a16="http://schemas.microsoft.com/office/drawing/2014/main" id="{82093046-C68B-440F-ADA2-6215EE214FDA}"/>
              </a:ext>
            </a:extLst>
          </p:cNvPr>
          <p:cNvSpPr>
            <a:spLocks noGrp="1"/>
          </p:cNvSpPr>
          <p:nvPr/>
        </p:nvSpPr>
        <p:spPr>
          <a:xfrm>
            <a:off x="3467100" y="4076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F86A5"/>
                </a:solidFill>
              </a:defRPr>
            </a:pPr>
            <a:r>
              <a:rPr sz="750" b="1">
                <a:solidFill>
                  <a:srgbClr val="6F86A5"/>
                </a:solidFill>
              </a:rPr>
              <a:t>NEW STOCK</a:t>
            </a:r>
          </a:p>
        </p:txBody>
      </p:sp>
      <p:sp>
        <p:nvSpPr>
          <p:cNvPr id="14" name="animate-audit-value-4">
            <a:extLst>
              <a:ext uri="{FF2B5EF4-FFF2-40B4-BE49-F238E27FC236}">
                <a16:creationId xmlns:a16="http://schemas.microsoft.com/office/drawing/2014/main" id="{4D4262D9-CB1D-4E77-A0E1-FA655DAEAFE4}"/>
              </a:ext>
            </a:extLst>
          </p:cNvPr>
          <p:cNvSpPr>
            <a:spLocks noGrp="1"/>
          </p:cNvSpPr>
          <p:nvPr/>
        </p:nvSpPr>
        <p:spPr>
          <a:xfrm>
            <a:off x="5048250" y="40100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52"/>
                </a:solidFill>
              </a:defRPr>
            </a:pPr>
            <a:r>
              <a:rPr sz="1275" b="1">
                <a:solidFill>
                  <a:srgbClr val="102A52"/>
                </a:solidFill>
              </a:rPr>
              <a:t>15 boxes</a:t>
            </a:r>
          </a:p>
        </p:txBody>
      </p:sp>
      <p:sp>
        <p:nvSpPr>
          <p:cNvPr id="15" name="animate-audit-label-5">
            <a:extLst>
              <a:ext uri="{FF2B5EF4-FFF2-40B4-BE49-F238E27FC236}">
                <a16:creationId xmlns:a16="http://schemas.microsoft.com/office/drawing/2014/main" id="{BA74842B-358E-4603-B938-0E6443EF1D4F}"/>
              </a:ext>
            </a:extLst>
          </p:cNvPr>
          <p:cNvSpPr>
            <a:spLocks noGrp="1"/>
          </p:cNvSpPr>
          <p:nvPr/>
        </p:nvSpPr>
        <p:spPr>
          <a:xfrm>
            <a:off x="7372350" y="4076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F86A5"/>
                </a:solidFill>
              </a:defRPr>
            </a:pPr>
            <a:r>
              <a:rPr sz="750" b="1">
                <a:solidFill>
                  <a:srgbClr val="6F86A5"/>
                </a:solidFill>
              </a:rPr>
              <a:t>CREATED BY</a:t>
            </a:r>
          </a:p>
        </p:txBody>
      </p:sp>
      <p:sp>
        <p:nvSpPr>
          <p:cNvPr id="16" name="animate-audit-value-5">
            <a:extLst>
              <a:ext uri="{FF2B5EF4-FFF2-40B4-BE49-F238E27FC236}">
                <a16:creationId xmlns:a16="http://schemas.microsoft.com/office/drawing/2014/main" id="{184B3A9A-C846-4F13-9F6E-7B92BBEC3F1B}"/>
              </a:ext>
            </a:extLst>
          </p:cNvPr>
          <p:cNvSpPr>
            <a:spLocks noGrp="1"/>
          </p:cNvSpPr>
          <p:nvPr/>
        </p:nvSpPr>
        <p:spPr>
          <a:xfrm>
            <a:off x="8953500" y="40100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52"/>
                </a:solidFill>
              </a:defRPr>
            </a:pPr>
            <a:r>
              <a:rPr sz="1275" b="1">
                <a:solidFill>
                  <a:srgbClr val="102A52"/>
                </a:solidFill>
              </a:rPr>
              <a:t>Warehouse Executive</a:t>
            </a:r>
          </a:p>
        </p:txBody>
      </p:sp>
      <p:sp>
        <p:nvSpPr>
          <p:cNvPr id="17" name="animate-audit-label-6">
            <a:extLst>
              <a:ext uri="{FF2B5EF4-FFF2-40B4-BE49-F238E27FC236}">
                <a16:creationId xmlns:a16="http://schemas.microsoft.com/office/drawing/2014/main" id="{AA5E03A0-4458-4C19-A18B-96B02DD84846}"/>
              </a:ext>
            </a:extLst>
          </p:cNvPr>
          <p:cNvSpPr>
            <a:spLocks noGrp="1"/>
          </p:cNvSpPr>
          <p:nvPr/>
        </p:nvSpPr>
        <p:spPr>
          <a:xfrm>
            <a:off x="3467100" y="46101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F86A5"/>
                </a:solidFill>
              </a:defRPr>
            </a:pPr>
            <a:r>
              <a:rPr sz="750" b="1">
                <a:solidFill>
                  <a:srgbClr val="6F86A5"/>
                </a:solidFill>
              </a:rPr>
              <a:t>REVIEWED BY</a:t>
            </a:r>
          </a:p>
        </p:txBody>
      </p:sp>
      <p:sp>
        <p:nvSpPr>
          <p:cNvPr id="18" name="animate-audit-value-6">
            <a:extLst>
              <a:ext uri="{FF2B5EF4-FFF2-40B4-BE49-F238E27FC236}">
                <a16:creationId xmlns:a16="http://schemas.microsoft.com/office/drawing/2014/main" id="{8FB1012F-DDE3-456A-B2B2-1D025546328D}"/>
              </a:ext>
            </a:extLst>
          </p:cNvPr>
          <p:cNvSpPr>
            <a:spLocks noGrp="1"/>
          </p:cNvSpPr>
          <p:nvPr/>
        </p:nvSpPr>
        <p:spPr>
          <a:xfrm>
            <a:off x="5048250" y="45434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2A52"/>
                </a:solidFill>
              </a:defRPr>
            </a:pPr>
            <a:r>
              <a:rPr sz="1275" b="1">
                <a:solidFill>
                  <a:srgbClr val="102A52"/>
                </a:solidFill>
              </a:rPr>
              <a:t>Inventory Manager</a:t>
            </a:r>
          </a:p>
        </p:txBody>
      </p:sp>
      <p:sp>
        <p:nvSpPr>
          <p:cNvPr id="19" name="animate-audit-label-7">
            <a:extLst>
              <a:ext uri="{FF2B5EF4-FFF2-40B4-BE49-F238E27FC236}">
                <a16:creationId xmlns:a16="http://schemas.microsoft.com/office/drawing/2014/main" id="{91FF1D4B-5815-47BF-B5AA-9F95B5FAF580}"/>
              </a:ext>
            </a:extLst>
          </p:cNvPr>
          <p:cNvSpPr>
            <a:spLocks noGrp="1"/>
          </p:cNvSpPr>
          <p:nvPr/>
        </p:nvSpPr>
        <p:spPr>
          <a:xfrm>
            <a:off x="7372350" y="46101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6F86A5"/>
                </a:solidFill>
              </a:defRPr>
            </a:pPr>
            <a:r>
              <a:rPr sz="750" b="1">
                <a:solidFill>
                  <a:srgbClr val="6F86A5"/>
                </a:solidFill>
              </a:rPr>
              <a:t>STATUS</a:t>
            </a:r>
          </a:p>
        </p:txBody>
      </p:sp>
      <p:sp>
        <p:nvSpPr>
          <p:cNvPr id="20" name="animate-audit-value-7">
            <a:extLst>
              <a:ext uri="{FF2B5EF4-FFF2-40B4-BE49-F238E27FC236}">
                <a16:creationId xmlns:a16="http://schemas.microsoft.com/office/drawing/2014/main" id="{457EDD52-8EA6-4D07-BE3E-6AA80548893A}"/>
              </a:ext>
            </a:extLst>
          </p:cNvPr>
          <p:cNvSpPr>
            <a:spLocks noGrp="1"/>
          </p:cNvSpPr>
          <p:nvPr/>
        </p:nvSpPr>
        <p:spPr>
          <a:xfrm>
            <a:off x="8953500" y="45434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2966F"/>
                </a:solidFill>
              </a:defRPr>
            </a:pPr>
            <a:r>
              <a:rPr sz="1275" b="1">
                <a:solidFill>
                  <a:srgbClr val="12966F"/>
                </a:solidFill>
              </a:rPr>
              <a:t>POSTED</a:t>
            </a:r>
          </a:p>
        </p:txBody>
      </p:sp>
      <p:sp>
        <p:nvSpPr>
          <p:cNvPr id="21" name="subtitle-bg">
            <a:extLst>
              <a:ext uri="{FF2B5EF4-FFF2-40B4-BE49-F238E27FC236}">
                <a16:creationId xmlns:a16="http://schemas.microsoft.com/office/drawing/2014/main" id="{FB06AC1B-50B1-4296-B248-8000C152D68B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22" name="subtitle-text">
            <a:extLst>
              <a:ext uri="{FF2B5EF4-FFF2-40B4-BE49-F238E27FC236}">
                <a16:creationId xmlns:a16="http://schemas.microsoft.com/office/drawing/2014/main" id="{03B7C56C-809A-4105-ACC2-267B28CA30EB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The audit trail records the worker, manager, timestamps, transcript and final stock result.</a:t>
            </a:r>
          </a:p>
        </p:txBody>
      </p:sp>
      <p:pic>
        <p:nvPicPr>
          <p:cNvPr id="24" name="narration-11">
            <a:hlinkClick r:id="" action="ppaction://media"/>
            <a:extLst>
              <a:ext uri="{FF2B5EF4-FFF2-40B4-BE49-F238E27FC236}">
                <a16:creationId xmlns:a16="http://schemas.microsoft.com/office/drawing/2014/main" id="{F88BE923-2B3C-23C0-7D9B-D7BF50712A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530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fade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58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nimate-eyebrow-Simple controls • clear responsibility">
            <a:extLst>
              <a:ext uri="{FF2B5EF4-FFF2-40B4-BE49-F238E27FC236}">
                <a16:creationId xmlns:a16="http://schemas.microsoft.com/office/drawing/2014/main" id="{8FF8C72D-CB59-49F0-B957-975DADD3559C}"/>
              </a:ext>
            </a:extLst>
          </p:cNvPr>
          <p:cNvSpPr>
            <a:spLocks noGrp="1"/>
          </p:cNvSpPr>
          <p:nvPr/>
        </p:nvSpPr>
        <p:spPr>
          <a:xfrm>
            <a:off x="628650" y="3619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46BFD"/>
                </a:solidFill>
              </a:defRPr>
            </a:pPr>
            <a:r>
              <a:rPr sz="975" b="1">
                <a:solidFill>
                  <a:srgbClr val="246BFD"/>
                </a:solidFill>
              </a:rPr>
              <a:t>SIMPLE CONTROLS • CLEAR RESPONSIBILITY</a:t>
            </a:r>
          </a:p>
        </p:txBody>
      </p:sp>
      <p:sp>
        <p:nvSpPr>
          <p:cNvPr id="2" name="animate-title">
            <a:extLst>
              <a:ext uri="{FF2B5EF4-FFF2-40B4-BE49-F238E27FC236}">
                <a16:creationId xmlns:a16="http://schemas.microsoft.com/office/drawing/2014/main" id="{813F89B0-9164-4CDF-9652-0DAB1D2F852F}"/>
              </a:ext>
            </a:extLst>
          </p:cNvPr>
          <p:cNvSpPr>
            <a:spLocks noGrp="1"/>
          </p:cNvSpPr>
          <p:nvPr/>
        </p:nvSpPr>
        <p:spPr>
          <a:xfrm>
            <a:off x="628650" y="74295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02A52"/>
                </a:solidFill>
              </a:defRPr>
            </a:pPr>
            <a:r>
              <a:rPr sz="2925" b="1">
                <a:solidFill>
                  <a:srgbClr val="102A52"/>
                </a:solidFill>
              </a:rPr>
              <a:t>The right approval rule for every inventory action</a:t>
            </a:r>
          </a:p>
        </p:txBody>
      </p:sp>
      <p:sp>
        <p:nvSpPr>
          <p:cNvPr id="3" name="animate-rule-0">
            <a:extLst>
              <a:ext uri="{FF2B5EF4-FFF2-40B4-BE49-F238E27FC236}">
                <a16:creationId xmlns:a16="http://schemas.microsoft.com/office/drawing/2014/main" id="{26794686-4BA2-431A-A9AF-035E794F7E22}"/>
              </a:ext>
            </a:extLst>
          </p:cNvPr>
          <p:cNvSpPr>
            <a:spLocks noGrp="1"/>
          </p:cNvSpPr>
          <p:nvPr/>
        </p:nvSpPr>
        <p:spPr>
          <a:xfrm>
            <a:off x="552450" y="1638300"/>
            <a:ext cx="3524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3E0F0"/>
            </a:solidFill>
            <a:prstDash val="solid"/>
          </a:ln>
        </p:spPr>
      </p:sp>
      <p:sp>
        <p:nvSpPr>
          <p:cNvPr id="4" name="animate-rule-accent-0">
            <a:extLst>
              <a:ext uri="{FF2B5EF4-FFF2-40B4-BE49-F238E27FC236}">
                <a16:creationId xmlns:a16="http://schemas.microsoft.com/office/drawing/2014/main" id="{E29ED9F6-9C90-45BD-89D8-80303CAE5787}"/>
              </a:ext>
            </a:extLst>
          </p:cNvPr>
          <p:cNvSpPr>
            <a:spLocks noGrp="1"/>
          </p:cNvSpPr>
          <p:nvPr/>
        </p:nvSpPr>
        <p:spPr>
          <a:xfrm>
            <a:off x="552450" y="1638300"/>
            <a:ext cx="95250" cy="1695450"/>
          </a:xfrm>
          <a:prstGeom prst="roundRect">
            <a:avLst>
              <a:gd name="adj" fmla="val 50000"/>
            </a:avLst>
          </a:prstGeom>
          <a:solidFill>
            <a:srgbClr val="12966F"/>
          </a:solidFill>
          <a:ln w="0">
            <a:noFill/>
            <a:prstDash val="solid"/>
          </a:ln>
        </p:spPr>
      </p:sp>
      <p:sp>
        <p:nvSpPr>
          <p:cNvPr id="5" name="animate-rule-head-0">
            <a:extLst>
              <a:ext uri="{FF2B5EF4-FFF2-40B4-BE49-F238E27FC236}">
                <a16:creationId xmlns:a16="http://schemas.microsoft.com/office/drawing/2014/main" id="{46D0A89C-D267-4AB9-9796-B6410CDC102F}"/>
              </a:ext>
            </a:extLst>
          </p:cNvPr>
          <p:cNvSpPr>
            <a:spLocks noGrp="1"/>
          </p:cNvSpPr>
          <p:nvPr/>
        </p:nvSpPr>
        <p:spPr>
          <a:xfrm>
            <a:off x="838200" y="1905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2966F"/>
                </a:solidFill>
              </a:defRPr>
            </a:pPr>
            <a:r>
              <a:rPr sz="1350" b="1">
                <a:solidFill>
                  <a:srgbClr val="12966F"/>
                </a:solidFill>
              </a:rPr>
              <a:t>RECEIVE</a:t>
            </a:r>
          </a:p>
        </p:txBody>
      </p:sp>
      <p:sp>
        <p:nvSpPr>
          <p:cNvPr id="6" name="animate-rule-body-0">
            <a:extLst>
              <a:ext uri="{FF2B5EF4-FFF2-40B4-BE49-F238E27FC236}">
                <a16:creationId xmlns:a16="http://schemas.microsoft.com/office/drawing/2014/main" id="{1FF24567-D01D-41BA-9CE2-57DCD625972B}"/>
              </a:ext>
            </a:extLst>
          </p:cNvPr>
          <p:cNvSpPr>
            <a:spLocks noGrp="1"/>
          </p:cNvSpPr>
          <p:nvPr/>
        </p:nvSpPr>
        <p:spPr>
          <a:xfrm>
            <a:off x="838200" y="2324100"/>
            <a:ext cx="2895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A52"/>
                </a:solidFill>
              </a:defRPr>
            </a:pPr>
            <a:r>
              <a:rPr sz="1350" b="1">
                <a:solidFill>
                  <a:srgbClr val="102A52"/>
                </a:solidFill>
              </a:rPr>
              <a:t>Posts after worker confirmation and validation</a:t>
            </a:r>
          </a:p>
        </p:txBody>
      </p:sp>
      <p:sp>
        <p:nvSpPr>
          <p:cNvPr id="7" name="animate-rule-1">
            <a:extLst>
              <a:ext uri="{FF2B5EF4-FFF2-40B4-BE49-F238E27FC236}">
                <a16:creationId xmlns:a16="http://schemas.microsoft.com/office/drawing/2014/main" id="{9ED8D9E0-64B6-44FE-B21A-1B0B32F13802}"/>
              </a:ext>
            </a:extLst>
          </p:cNvPr>
          <p:cNvSpPr>
            <a:spLocks noGrp="1"/>
          </p:cNvSpPr>
          <p:nvPr/>
        </p:nvSpPr>
        <p:spPr>
          <a:xfrm>
            <a:off x="4381500" y="1638300"/>
            <a:ext cx="3524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3E0F0"/>
            </a:solidFill>
            <a:prstDash val="solid"/>
          </a:ln>
        </p:spPr>
      </p:sp>
      <p:sp>
        <p:nvSpPr>
          <p:cNvPr id="8" name="animate-rule-accent-1">
            <a:extLst>
              <a:ext uri="{FF2B5EF4-FFF2-40B4-BE49-F238E27FC236}">
                <a16:creationId xmlns:a16="http://schemas.microsoft.com/office/drawing/2014/main" id="{0E9B360E-1463-44E3-A0A6-D5DD2C1A5F49}"/>
              </a:ext>
            </a:extLst>
          </p:cNvPr>
          <p:cNvSpPr>
            <a:spLocks noGrp="1"/>
          </p:cNvSpPr>
          <p:nvPr/>
        </p:nvSpPr>
        <p:spPr>
          <a:xfrm>
            <a:off x="4381500" y="1638300"/>
            <a:ext cx="95250" cy="1695450"/>
          </a:xfrm>
          <a:prstGeom prst="roundRect">
            <a:avLst>
              <a:gd name="adj" fmla="val 5000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9" name="animate-rule-head-1">
            <a:extLst>
              <a:ext uri="{FF2B5EF4-FFF2-40B4-BE49-F238E27FC236}">
                <a16:creationId xmlns:a16="http://schemas.microsoft.com/office/drawing/2014/main" id="{9418CD73-ADE8-44B5-A2F2-47EE2B5BAB80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46BFD"/>
                </a:solidFill>
              </a:defRPr>
            </a:pPr>
            <a:r>
              <a:rPr sz="1350" b="1">
                <a:solidFill>
                  <a:srgbClr val="246BFD"/>
                </a:solidFill>
              </a:rPr>
              <a:t>SHIP / USE</a:t>
            </a:r>
          </a:p>
        </p:txBody>
      </p:sp>
      <p:sp>
        <p:nvSpPr>
          <p:cNvPr id="10" name="animate-rule-body-1">
            <a:extLst>
              <a:ext uri="{FF2B5EF4-FFF2-40B4-BE49-F238E27FC236}">
                <a16:creationId xmlns:a16="http://schemas.microsoft.com/office/drawing/2014/main" id="{CF67A68F-144B-48D8-BA13-41F38C53E70D}"/>
              </a:ext>
            </a:extLst>
          </p:cNvPr>
          <p:cNvSpPr>
            <a:spLocks noGrp="1"/>
          </p:cNvSpPr>
          <p:nvPr/>
        </p:nvSpPr>
        <p:spPr>
          <a:xfrm>
            <a:off x="4667250" y="2324100"/>
            <a:ext cx="2895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A52"/>
                </a:solidFill>
              </a:defRPr>
            </a:pPr>
            <a:r>
              <a:rPr sz="1350" b="1">
                <a:solidFill>
                  <a:srgbClr val="102A52"/>
                </a:solidFill>
              </a:rPr>
              <a:t>Posts after validation; unusual or near-zero movements are flagged</a:t>
            </a:r>
          </a:p>
        </p:txBody>
      </p:sp>
      <p:sp>
        <p:nvSpPr>
          <p:cNvPr id="11" name="animate-rule-2">
            <a:extLst>
              <a:ext uri="{FF2B5EF4-FFF2-40B4-BE49-F238E27FC236}">
                <a16:creationId xmlns:a16="http://schemas.microsoft.com/office/drawing/2014/main" id="{C88F2D19-5DCA-4B0E-B31D-613CA5654D86}"/>
              </a:ext>
            </a:extLst>
          </p:cNvPr>
          <p:cNvSpPr>
            <a:spLocks noGrp="1"/>
          </p:cNvSpPr>
          <p:nvPr/>
        </p:nvSpPr>
        <p:spPr>
          <a:xfrm>
            <a:off x="8210550" y="1638300"/>
            <a:ext cx="3524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3E0F0"/>
            </a:solidFill>
            <a:prstDash val="solid"/>
          </a:ln>
        </p:spPr>
      </p:sp>
      <p:sp>
        <p:nvSpPr>
          <p:cNvPr id="12" name="animate-rule-accent-2">
            <a:extLst>
              <a:ext uri="{FF2B5EF4-FFF2-40B4-BE49-F238E27FC236}">
                <a16:creationId xmlns:a16="http://schemas.microsoft.com/office/drawing/2014/main" id="{FDD4192F-9681-4219-9EBD-65AD26D19B27}"/>
              </a:ext>
            </a:extLst>
          </p:cNvPr>
          <p:cNvSpPr>
            <a:spLocks noGrp="1"/>
          </p:cNvSpPr>
          <p:nvPr/>
        </p:nvSpPr>
        <p:spPr>
          <a:xfrm>
            <a:off x="8210550" y="1638300"/>
            <a:ext cx="95250" cy="1695450"/>
          </a:xfrm>
          <a:prstGeom prst="roundRect">
            <a:avLst>
              <a:gd name="adj" fmla="val 50000"/>
            </a:avLst>
          </a:prstGeom>
          <a:solidFill>
            <a:srgbClr val="7658E8"/>
          </a:solidFill>
          <a:ln w="0">
            <a:noFill/>
            <a:prstDash val="solid"/>
          </a:ln>
        </p:spPr>
      </p:sp>
      <p:sp>
        <p:nvSpPr>
          <p:cNvPr id="13" name="animate-rule-head-2">
            <a:extLst>
              <a:ext uri="{FF2B5EF4-FFF2-40B4-BE49-F238E27FC236}">
                <a16:creationId xmlns:a16="http://schemas.microsoft.com/office/drawing/2014/main" id="{2ADCBC04-43BA-433C-87FF-619F1B9D1DC0}"/>
              </a:ext>
            </a:extLst>
          </p:cNvPr>
          <p:cNvSpPr>
            <a:spLocks noGrp="1"/>
          </p:cNvSpPr>
          <p:nvPr/>
        </p:nvSpPr>
        <p:spPr>
          <a:xfrm>
            <a:off x="8496300" y="1905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658E8"/>
                </a:solidFill>
              </a:defRPr>
            </a:pPr>
            <a:r>
              <a:rPr sz="1350" b="1">
                <a:solidFill>
                  <a:srgbClr val="7658E8"/>
                </a:solidFill>
              </a:rPr>
              <a:t>TRANSFER</a:t>
            </a:r>
          </a:p>
        </p:txBody>
      </p:sp>
      <p:sp>
        <p:nvSpPr>
          <p:cNvPr id="14" name="animate-rule-body-2">
            <a:extLst>
              <a:ext uri="{FF2B5EF4-FFF2-40B4-BE49-F238E27FC236}">
                <a16:creationId xmlns:a16="http://schemas.microsoft.com/office/drawing/2014/main" id="{055F5924-614A-45A1-86C6-D76A3B98DEBE}"/>
              </a:ext>
            </a:extLst>
          </p:cNvPr>
          <p:cNvSpPr>
            <a:spLocks noGrp="1"/>
          </p:cNvSpPr>
          <p:nvPr/>
        </p:nvSpPr>
        <p:spPr>
          <a:xfrm>
            <a:off x="8496300" y="2324100"/>
            <a:ext cx="2895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A52"/>
                </a:solidFill>
              </a:defRPr>
            </a:pPr>
            <a:r>
              <a:rPr sz="1350" b="1">
                <a:solidFill>
                  <a:srgbClr val="102A52"/>
                </a:solidFill>
              </a:rPr>
              <a:t>Moves stock between approved warehouse locations</a:t>
            </a:r>
          </a:p>
        </p:txBody>
      </p:sp>
      <p:sp>
        <p:nvSpPr>
          <p:cNvPr id="15" name="animate-rule-3">
            <a:extLst>
              <a:ext uri="{FF2B5EF4-FFF2-40B4-BE49-F238E27FC236}">
                <a16:creationId xmlns:a16="http://schemas.microsoft.com/office/drawing/2014/main" id="{6785E3F7-0C93-45DF-A215-2EBCA9BFF4F5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3524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3E0F0"/>
            </a:solidFill>
            <a:prstDash val="solid"/>
          </a:ln>
        </p:spPr>
      </p:sp>
      <p:sp>
        <p:nvSpPr>
          <p:cNvPr id="16" name="animate-rule-accent-3">
            <a:extLst>
              <a:ext uri="{FF2B5EF4-FFF2-40B4-BE49-F238E27FC236}">
                <a16:creationId xmlns:a16="http://schemas.microsoft.com/office/drawing/2014/main" id="{0B313A9A-30FD-4F79-B0D0-74D9EE8CD3AF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95250" cy="1695450"/>
          </a:xfrm>
          <a:prstGeom prst="roundRect">
            <a:avLst>
              <a:gd name="adj" fmla="val 50000"/>
            </a:avLst>
          </a:prstGeom>
          <a:solidFill>
            <a:srgbClr val="E88A00"/>
          </a:solidFill>
          <a:ln w="0">
            <a:noFill/>
            <a:prstDash val="solid"/>
          </a:ln>
        </p:spPr>
      </p:sp>
      <p:sp>
        <p:nvSpPr>
          <p:cNvPr id="17" name="animate-rule-head-3">
            <a:extLst>
              <a:ext uri="{FF2B5EF4-FFF2-40B4-BE49-F238E27FC236}">
                <a16:creationId xmlns:a16="http://schemas.microsoft.com/office/drawing/2014/main" id="{6FBB0606-D9D9-4C76-8CD0-4C42A5D44875}"/>
              </a:ext>
            </a:extLst>
          </p:cNvPr>
          <p:cNvSpPr>
            <a:spLocks noGrp="1"/>
          </p:cNvSpPr>
          <p:nvPr/>
        </p:nvSpPr>
        <p:spPr>
          <a:xfrm>
            <a:off x="838200" y="3905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8A00"/>
                </a:solidFill>
              </a:defRPr>
            </a:pPr>
            <a:r>
              <a:rPr sz="1350" b="1">
                <a:solidFill>
                  <a:srgbClr val="E88A00"/>
                </a:solidFill>
              </a:rPr>
              <a:t>CYCLE COUNT</a:t>
            </a:r>
          </a:p>
        </p:txBody>
      </p:sp>
      <p:sp>
        <p:nvSpPr>
          <p:cNvPr id="18" name="animate-rule-body-3">
            <a:extLst>
              <a:ext uri="{FF2B5EF4-FFF2-40B4-BE49-F238E27FC236}">
                <a16:creationId xmlns:a16="http://schemas.microsoft.com/office/drawing/2014/main" id="{61C3DDCC-8FC8-4E41-B146-89B6FEBFA05E}"/>
              </a:ext>
            </a:extLst>
          </p:cNvPr>
          <p:cNvSpPr>
            <a:spLocks noGrp="1"/>
          </p:cNvSpPr>
          <p:nvPr/>
        </p:nvSpPr>
        <p:spPr>
          <a:xfrm>
            <a:off x="838200" y="4324350"/>
            <a:ext cx="2895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A52"/>
                </a:solidFill>
              </a:defRPr>
            </a:pPr>
            <a:r>
              <a:rPr sz="1350" b="1">
                <a:solidFill>
                  <a:srgbClr val="102A52"/>
                </a:solidFill>
              </a:rPr>
              <a:t>Differences require manager approval</a:t>
            </a:r>
          </a:p>
        </p:txBody>
      </p:sp>
      <p:sp>
        <p:nvSpPr>
          <p:cNvPr id="19" name="animate-rule-4">
            <a:extLst>
              <a:ext uri="{FF2B5EF4-FFF2-40B4-BE49-F238E27FC236}">
                <a16:creationId xmlns:a16="http://schemas.microsoft.com/office/drawing/2014/main" id="{B56D45BC-4AFD-4E4E-8BED-6C89E41C2B86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3524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3E0F0"/>
            </a:solidFill>
            <a:prstDash val="solid"/>
          </a:ln>
        </p:spPr>
      </p:sp>
      <p:sp>
        <p:nvSpPr>
          <p:cNvPr id="20" name="animate-rule-accent-4">
            <a:extLst>
              <a:ext uri="{FF2B5EF4-FFF2-40B4-BE49-F238E27FC236}">
                <a16:creationId xmlns:a16="http://schemas.microsoft.com/office/drawing/2014/main" id="{1E43469C-A495-49CC-B9A2-2DE19D2A941D}"/>
              </a:ext>
            </a:extLst>
          </p:cNvPr>
          <p:cNvSpPr>
            <a:spLocks noGrp="1"/>
          </p:cNvSpPr>
          <p:nvPr/>
        </p:nvSpPr>
        <p:spPr>
          <a:xfrm>
            <a:off x="4381500" y="3638550"/>
            <a:ext cx="95250" cy="1695450"/>
          </a:xfrm>
          <a:prstGeom prst="roundRect">
            <a:avLst>
              <a:gd name="adj" fmla="val 50000"/>
            </a:avLst>
          </a:prstGeom>
          <a:solidFill>
            <a:srgbClr val="D84B45"/>
          </a:solidFill>
          <a:ln w="0">
            <a:noFill/>
            <a:prstDash val="solid"/>
          </a:ln>
        </p:spPr>
      </p:sp>
      <p:sp>
        <p:nvSpPr>
          <p:cNvPr id="21" name="animate-rule-head-4">
            <a:extLst>
              <a:ext uri="{FF2B5EF4-FFF2-40B4-BE49-F238E27FC236}">
                <a16:creationId xmlns:a16="http://schemas.microsoft.com/office/drawing/2014/main" id="{913126A5-B879-41D3-8D05-EBB75C71C022}"/>
              </a:ext>
            </a:extLst>
          </p:cNvPr>
          <p:cNvSpPr>
            <a:spLocks noGrp="1"/>
          </p:cNvSpPr>
          <p:nvPr/>
        </p:nvSpPr>
        <p:spPr>
          <a:xfrm>
            <a:off x="4667250" y="3905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D84B45"/>
                </a:solidFill>
              </a:defRPr>
            </a:pPr>
            <a:r>
              <a:rPr sz="1350" b="1">
                <a:solidFill>
                  <a:srgbClr val="D84B45"/>
                </a:solidFill>
              </a:rPr>
              <a:t>DAMAGE / LOSS</a:t>
            </a:r>
          </a:p>
        </p:txBody>
      </p:sp>
      <p:sp>
        <p:nvSpPr>
          <p:cNvPr id="22" name="animate-rule-body-4">
            <a:extLst>
              <a:ext uri="{FF2B5EF4-FFF2-40B4-BE49-F238E27FC236}">
                <a16:creationId xmlns:a16="http://schemas.microsoft.com/office/drawing/2014/main" id="{E4823C92-DD5B-43AA-A4D2-FF25C3DEAF2E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95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A52"/>
                </a:solidFill>
              </a:defRPr>
            </a:pPr>
            <a:r>
              <a:rPr sz="1350" b="1">
                <a:solidFill>
                  <a:srgbClr val="102A52"/>
                </a:solidFill>
              </a:rPr>
              <a:t>Always requires manager approval and an audit reason</a:t>
            </a:r>
          </a:p>
        </p:txBody>
      </p:sp>
      <p:sp>
        <p:nvSpPr>
          <p:cNvPr id="23" name="animate-rule-5">
            <a:extLst>
              <a:ext uri="{FF2B5EF4-FFF2-40B4-BE49-F238E27FC236}">
                <a16:creationId xmlns:a16="http://schemas.microsoft.com/office/drawing/2014/main" id="{EF761247-F329-43FD-BBB7-713EADDB12BC}"/>
              </a:ext>
            </a:extLst>
          </p:cNvPr>
          <p:cNvSpPr>
            <a:spLocks noGrp="1"/>
          </p:cNvSpPr>
          <p:nvPr/>
        </p:nvSpPr>
        <p:spPr>
          <a:xfrm>
            <a:off x="8210550" y="3638550"/>
            <a:ext cx="3524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3E0F0"/>
            </a:solidFill>
            <a:prstDash val="solid"/>
          </a:ln>
        </p:spPr>
      </p:sp>
      <p:sp>
        <p:nvSpPr>
          <p:cNvPr id="24" name="animate-rule-accent-5">
            <a:extLst>
              <a:ext uri="{FF2B5EF4-FFF2-40B4-BE49-F238E27FC236}">
                <a16:creationId xmlns:a16="http://schemas.microsoft.com/office/drawing/2014/main" id="{17403453-25FA-4F5E-9A97-389A02A6574B}"/>
              </a:ext>
            </a:extLst>
          </p:cNvPr>
          <p:cNvSpPr>
            <a:spLocks noGrp="1"/>
          </p:cNvSpPr>
          <p:nvPr/>
        </p:nvSpPr>
        <p:spPr>
          <a:xfrm>
            <a:off x="8210550" y="3638550"/>
            <a:ext cx="95250" cy="1695450"/>
          </a:xfrm>
          <a:prstGeom prst="roundRect">
            <a:avLst>
              <a:gd name="adj" fmla="val 50000"/>
            </a:avLst>
          </a:prstGeom>
          <a:solidFill>
            <a:srgbClr val="12966F"/>
          </a:solidFill>
          <a:ln w="0">
            <a:noFill/>
            <a:prstDash val="solid"/>
          </a:ln>
        </p:spPr>
      </p:sp>
      <p:sp>
        <p:nvSpPr>
          <p:cNvPr id="25" name="animate-rule-head-5">
            <a:extLst>
              <a:ext uri="{FF2B5EF4-FFF2-40B4-BE49-F238E27FC236}">
                <a16:creationId xmlns:a16="http://schemas.microsoft.com/office/drawing/2014/main" id="{E325381C-F64A-4232-AEEC-FA616E05ED80}"/>
              </a:ext>
            </a:extLst>
          </p:cNvPr>
          <p:cNvSpPr>
            <a:spLocks noGrp="1"/>
          </p:cNvSpPr>
          <p:nvPr/>
        </p:nvSpPr>
        <p:spPr>
          <a:xfrm>
            <a:off x="8496300" y="3905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2966F"/>
                </a:solidFill>
              </a:defRPr>
            </a:pPr>
            <a:r>
              <a:rPr sz="1350" b="1">
                <a:solidFill>
                  <a:srgbClr val="12966F"/>
                </a:solidFill>
              </a:rPr>
              <a:t>LOW STOCK</a:t>
            </a:r>
          </a:p>
        </p:txBody>
      </p:sp>
      <p:sp>
        <p:nvSpPr>
          <p:cNvPr id="26" name="animate-rule-body-5">
            <a:extLst>
              <a:ext uri="{FF2B5EF4-FFF2-40B4-BE49-F238E27FC236}">
                <a16:creationId xmlns:a16="http://schemas.microsoft.com/office/drawing/2014/main" id="{4857C9C4-974D-48D5-8321-6634B41545D1}"/>
              </a:ext>
            </a:extLst>
          </p:cNvPr>
          <p:cNvSpPr>
            <a:spLocks noGrp="1"/>
          </p:cNvSpPr>
          <p:nvPr/>
        </p:nvSpPr>
        <p:spPr>
          <a:xfrm>
            <a:off x="8496300" y="4324350"/>
            <a:ext cx="28956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A52"/>
                </a:solidFill>
              </a:defRPr>
            </a:pPr>
            <a:r>
              <a:rPr sz="1350" b="1">
                <a:solidFill>
                  <a:srgbClr val="102A52"/>
                </a:solidFill>
              </a:rPr>
              <a:t>Creates a purchase-order draft for manager approval</a:t>
            </a:r>
          </a:p>
        </p:txBody>
      </p:sp>
      <p:sp>
        <p:nvSpPr>
          <p:cNvPr id="27" name="subtitle-bg">
            <a:extLst>
              <a:ext uri="{FF2B5EF4-FFF2-40B4-BE49-F238E27FC236}">
                <a16:creationId xmlns:a16="http://schemas.microsoft.com/office/drawing/2014/main" id="{935F44FD-3BD4-4A37-906C-1C78837B410B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28" name="subtitle-text">
            <a:extLst>
              <a:ext uri="{FF2B5EF4-FFF2-40B4-BE49-F238E27FC236}">
                <a16:creationId xmlns:a16="http://schemas.microsoft.com/office/drawing/2014/main" id="{8E04368E-46B9-4A23-84BB-07BD60EACB9C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Routine work stays fast, while risky adjustments receive the correct manager oversight.</a:t>
            </a:r>
          </a:p>
        </p:txBody>
      </p:sp>
      <p:pic>
        <p:nvPicPr>
          <p:cNvPr id="30" name="narration-12">
            <a:hlinkClick r:id="" action="ppaction://media"/>
            <a:extLst>
              <a:ext uri="{FF2B5EF4-FFF2-40B4-BE49-F238E27FC236}">
                <a16:creationId xmlns:a16="http://schemas.microsoft.com/office/drawing/2014/main" id="{83035E5B-03E4-1F3C-5E40-E19432524F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368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fade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48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losing-overlay">
            <a:extLst>
              <a:ext uri="{FF2B5EF4-FFF2-40B4-BE49-F238E27FC236}">
                <a16:creationId xmlns:a16="http://schemas.microsoft.com/office/drawing/2014/main" id="{37D527DD-5278-4F9A-B8B1-CB40A08E0D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3" name="animate-eyebrow-Enterprise-ready warehouse operations">
            <a:extLst>
              <a:ext uri="{FF2B5EF4-FFF2-40B4-BE49-F238E27FC236}">
                <a16:creationId xmlns:a16="http://schemas.microsoft.com/office/drawing/2014/main" id="{673F3235-F082-425B-8D68-14DC0CA21BA3}"/>
              </a:ext>
            </a:extLst>
          </p:cNvPr>
          <p:cNvSpPr>
            <a:spLocks noGrp="1"/>
          </p:cNvSpPr>
          <p:nvPr/>
        </p:nvSpPr>
        <p:spPr>
          <a:xfrm>
            <a:off x="4095750" y="11239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35C5F0"/>
                </a:solidFill>
              </a:defRPr>
            </a:pPr>
            <a:r>
              <a:rPr sz="975" b="1">
                <a:solidFill>
                  <a:srgbClr val="35C5F0"/>
                </a:solidFill>
              </a:rPr>
              <a:t>ENTERPRISE-READY WAREHOUSE OPERATIONS</a:t>
            </a:r>
          </a:p>
        </p:txBody>
      </p:sp>
      <p:sp>
        <p:nvSpPr>
          <p:cNvPr id="4" name="animate-title">
            <a:extLst>
              <a:ext uri="{FF2B5EF4-FFF2-40B4-BE49-F238E27FC236}">
                <a16:creationId xmlns:a16="http://schemas.microsoft.com/office/drawing/2014/main" id="{3F811AF3-BCF0-4B3D-A16F-2F6381E36416}"/>
              </a:ext>
            </a:extLst>
          </p:cNvPr>
          <p:cNvSpPr>
            <a:spLocks noGrp="1"/>
          </p:cNvSpPr>
          <p:nvPr/>
        </p:nvSpPr>
        <p:spPr>
          <a:xfrm>
            <a:off x="1143000" y="1866900"/>
            <a:ext cx="9906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AI Voice Inventory Management</a:t>
            </a:r>
          </a:p>
        </p:txBody>
      </p:sp>
      <p:sp>
        <p:nvSpPr>
          <p:cNvPr id="5" name="animate-outcomes">
            <a:extLst>
              <a:ext uri="{FF2B5EF4-FFF2-40B4-BE49-F238E27FC236}">
                <a16:creationId xmlns:a16="http://schemas.microsoft.com/office/drawing/2014/main" id="{E2E2A128-38BC-4F74-AE56-33D743600CAC}"/>
              </a:ext>
            </a:extLst>
          </p:cNvPr>
          <p:cNvSpPr>
            <a:spLocks noGrp="1"/>
          </p:cNvSpPr>
          <p:nvPr/>
        </p:nvSpPr>
        <p:spPr>
          <a:xfrm>
            <a:off x="1143000" y="2914650"/>
            <a:ext cx="990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D5E7FA"/>
                </a:solidFill>
              </a:defRPr>
            </a:pPr>
            <a:r>
              <a:rPr sz="1650" b="1">
                <a:solidFill>
                  <a:srgbClr val="D5E7FA"/>
                </a:solidFill>
              </a:rPr>
              <a:t>Faster inventory updates   •   Fewer manual errors   •   Complete accountability</a:t>
            </a:r>
          </a:p>
        </p:txBody>
      </p:sp>
      <p:sp>
        <p:nvSpPr>
          <p:cNvPr id="6" name="animate-rule-line">
            <a:extLst>
              <a:ext uri="{FF2B5EF4-FFF2-40B4-BE49-F238E27FC236}">
                <a16:creationId xmlns:a16="http://schemas.microsoft.com/office/drawing/2014/main" id="{E25D5B25-D32F-4FEC-A915-AD079FCD9ADA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390900" cy="47625"/>
          </a:xfrm>
          <a:prstGeom prst="roundRect">
            <a:avLst>
              <a:gd name="adj" fmla="val 5000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7" name="animate-tagline">
            <a:extLst>
              <a:ext uri="{FF2B5EF4-FFF2-40B4-BE49-F238E27FC236}">
                <a16:creationId xmlns:a16="http://schemas.microsoft.com/office/drawing/2014/main" id="{BA9072DD-1D4F-435C-9786-34B624C96312}"/>
              </a:ext>
            </a:extLst>
          </p:cNvPr>
          <p:cNvSpPr>
            <a:spLocks noGrp="1"/>
          </p:cNvSpPr>
          <p:nvPr/>
        </p:nvSpPr>
        <p:spPr>
          <a:xfrm>
            <a:off x="1143000" y="42291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35C5F0"/>
                </a:solidFill>
              </a:defRPr>
            </a:pPr>
            <a:r>
              <a:rPr sz="2400" b="1">
                <a:solidFill>
                  <a:srgbClr val="35C5F0"/>
                </a:solidFill>
              </a:rPr>
              <a:t>Speak. Confirm. Update. Monitor.</a:t>
            </a:r>
          </a:p>
        </p:txBody>
      </p:sp>
      <p:sp>
        <p:nvSpPr>
          <p:cNvPr id="8" name="animate-pillars">
            <a:extLst>
              <a:ext uri="{FF2B5EF4-FFF2-40B4-BE49-F238E27FC236}">
                <a16:creationId xmlns:a16="http://schemas.microsoft.com/office/drawing/2014/main" id="{DC8F4795-6070-4497-8B00-67607CA3447A}"/>
              </a:ext>
            </a:extLst>
          </p:cNvPr>
          <p:cNvSpPr>
            <a:spLocks noGrp="1"/>
          </p:cNvSpPr>
          <p:nvPr/>
        </p:nvSpPr>
        <p:spPr>
          <a:xfrm>
            <a:off x="1143000" y="52197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REAL-TIME   •   AI POWERED   •   SECURE   •   AUDIT READY</a:t>
            </a:r>
          </a:p>
        </p:txBody>
      </p:sp>
      <p:sp>
        <p:nvSpPr>
          <p:cNvPr id="9" name="subtitle-bg">
            <a:extLst>
              <a:ext uri="{FF2B5EF4-FFF2-40B4-BE49-F238E27FC236}">
                <a16:creationId xmlns:a16="http://schemas.microsoft.com/office/drawing/2014/main" id="{C7C62863-A822-40C5-90DD-D12D288DEB5A}"/>
              </a:ext>
            </a:extLst>
          </p:cNvPr>
          <p:cNvSpPr>
            <a:spLocks noGrp="1"/>
          </p:cNvSpPr>
          <p:nvPr/>
        </p:nvSpPr>
        <p:spPr>
          <a:xfrm>
            <a:off x="0" y="6248400"/>
            <a:ext cx="12192000" cy="609600"/>
          </a:xfrm>
          <a:prstGeom prst="roundRect">
            <a:avLst>
              <a:gd name="adj" fmla="val 1250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10" name="subtitle-text">
            <a:extLst>
              <a:ext uri="{FF2B5EF4-FFF2-40B4-BE49-F238E27FC236}">
                <a16:creationId xmlns:a16="http://schemas.microsoft.com/office/drawing/2014/main" id="{081D8235-FC3A-43A7-BB62-854F9A13C12D}"/>
              </a:ext>
            </a:extLst>
          </p:cNvPr>
          <p:cNvSpPr>
            <a:spLocks noGrp="1"/>
          </p:cNvSpPr>
          <p:nvPr/>
        </p:nvSpPr>
        <p:spPr>
          <a:xfrm>
            <a:off x="590550" y="6419850"/>
            <a:ext cx="1101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 faster, safer and fully auditable way to manage warehouse inventory.</a:t>
            </a:r>
          </a:p>
        </p:txBody>
      </p:sp>
      <p:pic>
        <p:nvPicPr>
          <p:cNvPr id="12" name="narration-13">
            <a:hlinkClick r:id="" action="ppaction://media"/>
            <a:extLst>
              <a:ext uri="{FF2B5EF4-FFF2-40B4-BE49-F238E27FC236}">
                <a16:creationId xmlns:a16="http://schemas.microsoft.com/office/drawing/2014/main" id="{DFC605E4-46FB-7C17-71DC-8C268086BE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96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>
        <p:fade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6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Microsoft Office PowerPoint</Application>
  <DocSecurity>0</DocSecurity>
  <PresentationFormat>Widescreen</PresentationFormat>
  <Paragraphs>153</Paragraphs>
  <Slides>13</Slides>
  <Notes>13</Notes>
  <HiddenSlides>0</HiddenSlides>
  <MMClips>16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prit patel</cp:lastModifiedBy>
  <cp:revision>1</cp:revision>
  <dcterms:created xsi:type="dcterms:W3CDTF">2026-08-10T05:50:21Z</dcterms:created>
  <dcterms:modified xsi:type="dcterms:W3CDTF">2026-08-10T06:04:45Z</dcterms:modified>
</cp:coreProperties>
</file>