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anel">
            <a:extLst>
              <a:ext uri="{FF2B5EF4-FFF2-40B4-BE49-F238E27FC236}">
                <a16:creationId xmlns:a16="http://schemas.microsoft.com/office/drawing/2014/main" id="{655B7809-39A0-4595-8B40-DC748485AF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191250" cy="6858000"/>
          </a:xfrm>
          <a:prstGeom prst="roundRect">
            <a:avLst>
              <a:gd name="adj" fmla="val 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eyebrow-Real-time warehouse operations">
            <a:extLst>
              <a:ext uri="{FF2B5EF4-FFF2-40B4-BE49-F238E27FC236}">
                <a16:creationId xmlns:a16="http://schemas.microsoft.com/office/drawing/2014/main" id="{67788CC1-C534-4051-B109-77FD13C35D5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6C5F0"/>
                </a:solidFill>
              </a:defRPr>
            </a:pPr>
            <a:r>
              <a:rPr sz="1050" b="1">
                <a:solidFill>
                  <a:srgbClr val="36C5F0"/>
                </a:solidFill>
              </a:rPr>
              <a:t>REAL-TIME WAREHOUSE OPERATIONS</a:t>
            </a:r>
          </a:p>
        </p:txBody>
      </p:sp>
      <p:sp>
        <p:nvSpPr>
          <p:cNvPr id="4" name="main title">
            <a:extLst>
              <a:ext uri="{FF2B5EF4-FFF2-40B4-BE49-F238E27FC236}">
                <a16:creationId xmlns:a16="http://schemas.microsoft.com/office/drawing/2014/main" id="{B3755456-A471-49FB-8F4E-217ECEEC3A35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4953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AI Voice Inventory</a:t>
            </a:r>
          </a:p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Management</a:t>
            </a:r>
          </a:p>
        </p:txBody>
      </p:sp>
      <p:sp>
        <p:nvSpPr>
          <p:cNvPr id="5" name="opening promise">
            <a:extLst>
              <a:ext uri="{FF2B5EF4-FFF2-40B4-BE49-F238E27FC236}">
                <a16:creationId xmlns:a16="http://schemas.microsoft.com/office/drawing/2014/main" id="{497BF49F-DDA6-4F12-8813-B7CB0DD89FDA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457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D9E8FA"/>
                </a:solidFill>
              </a:defRPr>
            </a:pPr>
            <a:r>
              <a:rPr sz="1875" b="0">
                <a:solidFill>
                  <a:srgbClr val="D9E8FA"/>
                </a:solidFill>
              </a:rPr>
              <a:t>Manage inventory faster using only your voice.</a:t>
            </a:r>
          </a:p>
        </p:txBody>
      </p:sp>
      <p:sp>
        <p:nvSpPr>
          <p:cNvPr id="6" name="accent line">
            <a:extLst>
              <a:ext uri="{FF2B5EF4-FFF2-40B4-BE49-F238E27FC236}">
                <a16:creationId xmlns:a16="http://schemas.microsoft.com/office/drawing/2014/main" id="{B746FBD8-C071-4E4A-A1DD-CFE3EDA279ED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1714500" cy="47625"/>
          </a:xfrm>
          <a:prstGeom prst="roundRect">
            <a:avLst>
              <a:gd name="adj" fmla="val 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7" name="opening tagline">
            <a:extLst>
              <a:ext uri="{FF2B5EF4-FFF2-40B4-BE49-F238E27FC236}">
                <a16:creationId xmlns:a16="http://schemas.microsoft.com/office/drawing/2014/main" id="{9953DD54-82DD-4E1C-998C-5C082478ADD6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AFC3DD"/>
                </a:solidFill>
              </a:defRPr>
            </a:pPr>
            <a:r>
              <a:rPr sz="1275" b="1">
                <a:solidFill>
                  <a:srgbClr val="AFC3DD"/>
                </a:solidFill>
              </a:rPr>
              <a:t>Speak  •  Confirm  •  Update  •  Monitor</a:t>
            </a:r>
          </a:p>
        </p:txBody>
      </p:sp>
      <p:pic>
        <p:nvPicPr>
          <p:cNvPr id="9" name="scene-01">
            <a:hlinkClick r:id="" action="ppaction://media"/>
            <a:extLst>
              <a:ext uri="{FF2B5EF4-FFF2-40B4-BE49-F238E27FC236}">
                <a16:creationId xmlns:a16="http://schemas.microsoft.com/office/drawing/2014/main" id="{05C5C528-3218-0B5F-FEC1-35BC31A13F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8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7000">
        <p:fade/>
      </p:transition>
    </mc:Choice>
    <mc:Fallback>
      <p:transition spd="slow" advClick="0" advTm="7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2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22095" r="22095"/>
          <a:stretch>
            <a:fillRect/>
          </a:stretch>
        </p:blipFill>
        <p:spPr>
          <a:xfrm>
            <a:off x="5391150" y="0"/>
            <a:ext cx="6800850" cy="6858000"/>
          </a:xfrm>
          <a:prstGeom prst="rect">
            <a:avLst/>
          </a:prstGeom>
        </p:spPr>
      </p:pic>
      <p:sp>
        <p:nvSpPr>
          <p:cNvPr id="2" name="left field">
            <a:extLst>
              <a:ext uri="{FF2B5EF4-FFF2-40B4-BE49-F238E27FC236}">
                <a16:creationId xmlns:a16="http://schemas.microsoft.com/office/drawing/2014/main" id="{C640B438-3F52-48E6-A429-DD90E37C1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F7FAFF"/>
          </a:solidFill>
          <a:ln w="0">
            <a:noFill/>
            <a:prstDash val="solid"/>
          </a:ln>
        </p:spPr>
      </p:sp>
      <p:sp>
        <p:nvSpPr>
          <p:cNvPr id="3" name="eyebrow-Warehouse executive mobile experience">
            <a:extLst>
              <a:ext uri="{FF2B5EF4-FFF2-40B4-BE49-F238E27FC236}">
                <a16:creationId xmlns:a16="http://schemas.microsoft.com/office/drawing/2014/main" id="{D732B233-2390-4C59-9F3B-199DF7E23F42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WAREHOUSE EXECUTIVE MOBILE EXPERIENCE</a:t>
            </a:r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68118281-7D17-4EAD-AF8B-4C5581267EFB}"/>
              </a:ext>
            </a:extLst>
          </p:cNvPr>
          <p:cNvSpPr>
            <a:spLocks noGrp="1"/>
          </p:cNvSpPr>
          <p:nvPr/>
        </p:nvSpPr>
        <p:spPr>
          <a:xfrm>
            <a:off x="685800" y="1200150"/>
            <a:ext cx="44767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071A38"/>
                </a:solidFill>
              </a:defRPr>
            </a:pPr>
            <a:r>
              <a:rPr sz="3750" b="1">
                <a:solidFill>
                  <a:srgbClr val="071A38"/>
                </a:solidFill>
              </a:rPr>
              <a:t>One tap.</a:t>
            </a:r>
          </a:p>
          <a:p>
            <a:pPr algn="l">
              <a:defRPr sz="3750" b="1">
                <a:solidFill>
                  <a:srgbClr val="071A38"/>
                </a:solidFill>
              </a:defRPr>
            </a:pPr>
            <a:r>
              <a:rPr sz="3750" b="1">
                <a:solidFill>
                  <a:srgbClr val="071A38"/>
                </a:solidFill>
              </a:rPr>
              <a:t>Then speak.</a:t>
            </a:r>
          </a:p>
        </p:txBody>
      </p:sp>
      <p:sp>
        <p:nvSpPr>
          <p:cNvPr id="5" name="slide statement">
            <a:extLst>
              <a:ext uri="{FF2B5EF4-FFF2-40B4-BE49-F238E27FC236}">
                <a16:creationId xmlns:a16="http://schemas.microsoft.com/office/drawing/2014/main" id="{C4A991AE-BF58-423C-A713-FFF78CBF1FA7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4286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D6583"/>
                </a:solidFill>
              </a:defRPr>
            </a:pPr>
            <a:r>
              <a:rPr sz="1650" b="0">
                <a:solidFill>
                  <a:srgbClr val="4D6583"/>
                </a:solidFill>
              </a:rPr>
              <a:t>The secure mobile web app confirms the worker, location and connection before recording begins.</a:t>
            </a:r>
          </a:p>
        </p:txBody>
      </p:sp>
      <p:sp>
        <p:nvSpPr>
          <p:cNvPr id="6" name="status-label-0">
            <a:extLst>
              <a:ext uri="{FF2B5EF4-FFF2-40B4-BE49-F238E27FC236}">
                <a16:creationId xmlns:a16="http://schemas.microsoft.com/office/drawing/2014/main" id="{E79ECE2E-CCB4-429C-8A9F-C10EEDCB98D7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590B2"/>
                </a:solidFill>
              </a:defRPr>
            </a:pPr>
            <a:r>
              <a:rPr sz="900" b="1">
                <a:solidFill>
                  <a:srgbClr val="7590B2"/>
                </a:solidFill>
              </a:rPr>
              <a:t>WORKER</a:t>
            </a:r>
          </a:p>
        </p:txBody>
      </p:sp>
      <p:sp>
        <p:nvSpPr>
          <p:cNvPr id="7" name="status-value-0">
            <a:extLst>
              <a:ext uri="{FF2B5EF4-FFF2-40B4-BE49-F238E27FC236}">
                <a16:creationId xmlns:a16="http://schemas.microsoft.com/office/drawing/2014/main" id="{023C059F-2B84-4B12-A2DA-D9637A36A00B}"/>
              </a:ext>
            </a:extLst>
          </p:cNvPr>
          <p:cNvSpPr>
            <a:spLocks noGrp="1"/>
          </p:cNvSpPr>
          <p:nvPr/>
        </p:nvSpPr>
        <p:spPr>
          <a:xfrm>
            <a:off x="1771650" y="40767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Priya Shah</a:t>
            </a:r>
          </a:p>
        </p:txBody>
      </p:sp>
      <p:sp>
        <p:nvSpPr>
          <p:cNvPr id="8" name="status-label-1">
            <a:extLst>
              <a:ext uri="{FF2B5EF4-FFF2-40B4-BE49-F238E27FC236}">
                <a16:creationId xmlns:a16="http://schemas.microsoft.com/office/drawing/2014/main" id="{37F9C7B6-1805-48A1-B331-8F49CBED54C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590B2"/>
                </a:solidFill>
              </a:defRPr>
            </a:pPr>
            <a:r>
              <a:rPr sz="900" b="1">
                <a:solidFill>
                  <a:srgbClr val="7590B2"/>
                </a:solidFill>
              </a:rPr>
              <a:t>ZONE</a:t>
            </a:r>
          </a:p>
        </p:txBody>
      </p:sp>
      <p:sp>
        <p:nvSpPr>
          <p:cNvPr id="9" name="status-value-1">
            <a:extLst>
              <a:ext uri="{FF2B5EF4-FFF2-40B4-BE49-F238E27FC236}">
                <a16:creationId xmlns:a16="http://schemas.microsoft.com/office/drawing/2014/main" id="{490982A5-1517-42B0-86A5-043F937CEA5F}"/>
              </a:ext>
            </a:extLst>
          </p:cNvPr>
          <p:cNvSpPr>
            <a:spLocks noGrp="1"/>
          </p:cNvSpPr>
          <p:nvPr/>
        </p:nvSpPr>
        <p:spPr>
          <a:xfrm>
            <a:off x="1771650" y="46291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Central Warehouse</a:t>
            </a:r>
          </a:p>
        </p:txBody>
      </p:sp>
      <p:sp>
        <p:nvSpPr>
          <p:cNvPr id="10" name="status-label-2">
            <a:extLst>
              <a:ext uri="{FF2B5EF4-FFF2-40B4-BE49-F238E27FC236}">
                <a16:creationId xmlns:a16="http://schemas.microsoft.com/office/drawing/2014/main" id="{B469F0DB-6132-48B3-950C-C0B087C4F548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7590B2"/>
                </a:solidFill>
              </a:defRPr>
            </a:pPr>
            <a:r>
              <a:rPr sz="900" b="1">
                <a:solidFill>
                  <a:srgbClr val="7590B2"/>
                </a:solidFill>
              </a:rPr>
              <a:t>STATUS</a:t>
            </a:r>
          </a:p>
        </p:txBody>
      </p:sp>
      <p:sp>
        <p:nvSpPr>
          <p:cNvPr id="11" name="status-value-2">
            <a:extLst>
              <a:ext uri="{FF2B5EF4-FFF2-40B4-BE49-F238E27FC236}">
                <a16:creationId xmlns:a16="http://schemas.microsoft.com/office/drawing/2014/main" id="{39910F87-DC81-481B-8E89-7535146732D7}"/>
              </a:ext>
            </a:extLst>
          </p:cNvPr>
          <p:cNvSpPr>
            <a:spLocks noGrp="1"/>
          </p:cNvSpPr>
          <p:nvPr/>
        </p:nvSpPr>
        <p:spPr>
          <a:xfrm>
            <a:off x="1771650" y="51816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5B87A"/>
                </a:solidFill>
              </a:defRPr>
            </a:pPr>
            <a:r>
              <a:rPr sz="1425" b="1">
                <a:solidFill>
                  <a:srgbClr val="15B87A"/>
                </a:solidFill>
              </a:rPr>
              <a:t>Online • Secure</a:t>
            </a:r>
          </a:p>
        </p:txBody>
      </p:sp>
      <p:pic>
        <p:nvPicPr>
          <p:cNvPr id="13" name="scene-02">
            <a:hlinkClick r:id="" action="ppaction://media"/>
            <a:extLst>
              <a:ext uri="{FF2B5EF4-FFF2-40B4-BE49-F238E27FC236}">
                <a16:creationId xmlns:a16="http://schemas.microsoft.com/office/drawing/2014/main" id="{C11602AC-C1D6-3ED0-A6C3-0465691116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>
        <p:fade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9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-Voice interaction">
            <a:extLst>
              <a:ext uri="{FF2B5EF4-FFF2-40B4-BE49-F238E27FC236}">
                <a16:creationId xmlns:a16="http://schemas.microsoft.com/office/drawing/2014/main" id="{7117D656-FCAF-4713-891B-798AC7C1A2A0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6C5F0"/>
                </a:solidFill>
              </a:defRPr>
            </a:pPr>
            <a:r>
              <a:rPr sz="1050" b="1">
                <a:solidFill>
                  <a:srgbClr val="36C5F0"/>
                </a:solidFill>
              </a:rPr>
              <a:t>VOICE INTERACTION</a:t>
            </a:r>
          </a:p>
        </p:txBody>
      </p:sp>
      <p:sp>
        <p:nvSpPr>
          <p:cNvPr id="2" name="voice title">
            <a:extLst>
              <a:ext uri="{FF2B5EF4-FFF2-40B4-BE49-F238E27FC236}">
                <a16:creationId xmlns:a16="http://schemas.microsoft.com/office/drawing/2014/main" id="{B3FE7F5F-1F33-4A76-B7CA-C6576E9DB761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10572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The AI turns natural speech into a controlled transaction</a:t>
            </a:r>
          </a:p>
        </p:txBody>
      </p:sp>
      <p:sp>
        <p:nvSpPr>
          <p:cNvPr id="3" name="speech quote">
            <a:extLst>
              <a:ext uri="{FF2B5EF4-FFF2-40B4-BE49-F238E27FC236}">
                <a16:creationId xmlns:a16="http://schemas.microsoft.com/office/drawing/2014/main" id="{CF9486FE-646F-4B79-8F60-7451B3BEDC56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10820400" cy="914400"/>
          </a:xfrm>
          <a:prstGeom prst="roundRect">
            <a:avLst>
              <a:gd name="adj" fmla="val 16667"/>
            </a:avLst>
          </a:prstGeom>
          <a:solidFill>
            <a:srgbClr val="102C58"/>
          </a:solidFill>
          <a:ln w="9525">
            <a:solidFill>
              <a:srgbClr val="2E5C94"/>
            </a:solidFill>
            <a:prstDash val="solid"/>
          </a:ln>
        </p:spPr>
      </p:sp>
      <p:sp>
        <p:nvSpPr>
          <p:cNvPr id="4" name="quote">
            <a:extLst>
              <a:ext uri="{FF2B5EF4-FFF2-40B4-BE49-F238E27FC236}">
                <a16:creationId xmlns:a16="http://schemas.microsoft.com/office/drawing/2014/main" id="{831846F0-F548-4590-9611-EAA6C2ADEE25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1005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“Received 50 Blue Widgets from Supplier X at Shelf B.”</a:t>
            </a:r>
          </a:p>
        </p:txBody>
      </p:sp>
      <p:sp>
        <p:nvSpPr>
          <p:cNvPr id="5" name="field-0">
            <a:extLst>
              <a:ext uri="{FF2B5EF4-FFF2-40B4-BE49-F238E27FC236}">
                <a16:creationId xmlns:a16="http://schemas.microsoft.com/office/drawing/2014/main" id="{EA736517-636B-4D23-851C-0D99BB4EEB86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field-accent-0">
            <a:extLst>
              <a:ext uri="{FF2B5EF4-FFF2-40B4-BE49-F238E27FC236}">
                <a16:creationId xmlns:a16="http://schemas.microsoft.com/office/drawing/2014/main" id="{A8C516F4-D187-45A0-8E1E-44C1D8F690E1}"/>
              </a:ext>
            </a:extLst>
          </p:cNvPr>
          <p:cNvSpPr>
            <a:spLocks noGrp="1"/>
          </p:cNvSpPr>
          <p:nvPr/>
        </p:nvSpPr>
        <p:spPr>
          <a:xfrm>
            <a:off x="685800" y="3028950"/>
            <a:ext cx="1952625" cy="66675"/>
          </a:xfrm>
          <a:prstGeom prst="roundRect">
            <a:avLst>
              <a:gd name="adj" fmla="val 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7" name="field-label-0">
            <a:extLst>
              <a:ext uri="{FF2B5EF4-FFF2-40B4-BE49-F238E27FC236}">
                <a16:creationId xmlns:a16="http://schemas.microsoft.com/office/drawing/2014/main" id="{337240E6-E6C2-4E55-976F-E070C8FEA054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890AD"/>
                </a:solidFill>
              </a:defRPr>
            </a:pPr>
            <a:r>
              <a:rPr sz="825" b="1">
                <a:solidFill>
                  <a:srgbClr val="7890AD"/>
                </a:solidFill>
              </a:rPr>
              <a:t>ACTION</a:t>
            </a:r>
          </a:p>
        </p:txBody>
      </p:sp>
      <p:sp>
        <p:nvSpPr>
          <p:cNvPr id="8" name="field-value-0">
            <a:extLst>
              <a:ext uri="{FF2B5EF4-FFF2-40B4-BE49-F238E27FC236}">
                <a16:creationId xmlns:a16="http://schemas.microsoft.com/office/drawing/2014/main" id="{154D07C7-0E0A-4328-B24D-8A587CEA43F8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Receive</a:t>
            </a:r>
          </a:p>
        </p:txBody>
      </p:sp>
      <p:sp>
        <p:nvSpPr>
          <p:cNvPr id="9" name="field-1">
            <a:extLst>
              <a:ext uri="{FF2B5EF4-FFF2-40B4-BE49-F238E27FC236}">
                <a16:creationId xmlns:a16="http://schemas.microsoft.com/office/drawing/2014/main" id="{5116443A-C87E-4C69-BBD9-F0C2E55BA887}"/>
              </a:ext>
            </a:extLst>
          </p:cNvPr>
          <p:cNvSpPr>
            <a:spLocks noGrp="1"/>
          </p:cNvSpPr>
          <p:nvPr/>
        </p:nvSpPr>
        <p:spPr>
          <a:xfrm>
            <a:off x="2847975" y="3028950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" name="field-accent-1">
            <a:extLst>
              <a:ext uri="{FF2B5EF4-FFF2-40B4-BE49-F238E27FC236}">
                <a16:creationId xmlns:a16="http://schemas.microsoft.com/office/drawing/2014/main" id="{29CF7C90-A7FE-40CD-9A11-E5E52D82158C}"/>
              </a:ext>
            </a:extLst>
          </p:cNvPr>
          <p:cNvSpPr>
            <a:spLocks noGrp="1"/>
          </p:cNvSpPr>
          <p:nvPr/>
        </p:nvSpPr>
        <p:spPr>
          <a:xfrm>
            <a:off x="2847975" y="3028950"/>
            <a:ext cx="1952625" cy="66675"/>
          </a:xfrm>
          <a:prstGeom prst="roundRect">
            <a:avLst>
              <a:gd name="adj" fmla="val 0"/>
            </a:avLst>
          </a:prstGeom>
          <a:solidFill>
            <a:srgbClr val="7B61FF"/>
          </a:solidFill>
          <a:ln w="0">
            <a:noFill/>
            <a:prstDash val="solid"/>
          </a:ln>
        </p:spPr>
      </p:sp>
      <p:sp>
        <p:nvSpPr>
          <p:cNvPr id="11" name="field-label-1">
            <a:extLst>
              <a:ext uri="{FF2B5EF4-FFF2-40B4-BE49-F238E27FC236}">
                <a16:creationId xmlns:a16="http://schemas.microsoft.com/office/drawing/2014/main" id="{8C7B5F18-09FE-4719-8603-22AD9F39834E}"/>
              </a:ext>
            </a:extLst>
          </p:cNvPr>
          <p:cNvSpPr>
            <a:spLocks noGrp="1"/>
          </p:cNvSpPr>
          <p:nvPr/>
        </p:nvSpPr>
        <p:spPr>
          <a:xfrm>
            <a:off x="3019425" y="32766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890AD"/>
                </a:solidFill>
              </a:defRPr>
            </a:pPr>
            <a:r>
              <a:rPr sz="825" b="1">
                <a:solidFill>
                  <a:srgbClr val="7890AD"/>
                </a:solidFill>
              </a:rPr>
              <a:t>PRODUCT</a:t>
            </a:r>
          </a:p>
        </p:txBody>
      </p:sp>
      <p:sp>
        <p:nvSpPr>
          <p:cNvPr id="12" name="field-value-1">
            <a:extLst>
              <a:ext uri="{FF2B5EF4-FFF2-40B4-BE49-F238E27FC236}">
                <a16:creationId xmlns:a16="http://schemas.microsoft.com/office/drawing/2014/main" id="{14D69C74-BE6C-4209-A442-114CFF684870}"/>
              </a:ext>
            </a:extLst>
          </p:cNvPr>
          <p:cNvSpPr>
            <a:spLocks noGrp="1"/>
          </p:cNvSpPr>
          <p:nvPr/>
        </p:nvSpPr>
        <p:spPr>
          <a:xfrm>
            <a:off x="3019425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Blue Widget</a:t>
            </a:r>
          </a:p>
        </p:txBody>
      </p:sp>
      <p:sp>
        <p:nvSpPr>
          <p:cNvPr id="13" name="field-2">
            <a:extLst>
              <a:ext uri="{FF2B5EF4-FFF2-40B4-BE49-F238E27FC236}">
                <a16:creationId xmlns:a16="http://schemas.microsoft.com/office/drawing/2014/main" id="{784FDA37-2740-4A89-A10A-B46610914F25}"/>
              </a:ext>
            </a:extLst>
          </p:cNvPr>
          <p:cNvSpPr>
            <a:spLocks noGrp="1"/>
          </p:cNvSpPr>
          <p:nvPr/>
        </p:nvSpPr>
        <p:spPr>
          <a:xfrm>
            <a:off x="5010150" y="3028950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" name="field-accent-2">
            <a:extLst>
              <a:ext uri="{FF2B5EF4-FFF2-40B4-BE49-F238E27FC236}">
                <a16:creationId xmlns:a16="http://schemas.microsoft.com/office/drawing/2014/main" id="{E386AD63-F471-4441-B567-2FE0A739E57B}"/>
              </a:ext>
            </a:extLst>
          </p:cNvPr>
          <p:cNvSpPr>
            <a:spLocks noGrp="1"/>
          </p:cNvSpPr>
          <p:nvPr/>
        </p:nvSpPr>
        <p:spPr>
          <a:xfrm>
            <a:off x="5010150" y="3028950"/>
            <a:ext cx="1952625" cy="66675"/>
          </a:xfrm>
          <a:prstGeom prst="roundRect">
            <a:avLst>
              <a:gd name="adj" fmla="val 0"/>
            </a:avLst>
          </a:prstGeom>
          <a:solidFill>
            <a:srgbClr val="15B87A"/>
          </a:solidFill>
          <a:ln w="0">
            <a:noFill/>
            <a:prstDash val="solid"/>
          </a:ln>
        </p:spPr>
      </p:sp>
      <p:sp>
        <p:nvSpPr>
          <p:cNvPr id="15" name="field-label-2">
            <a:extLst>
              <a:ext uri="{FF2B5EF4-FFF2-40B4-BE49-F238E27FC236}">
                <a16:creationId xmlns:a16="http://schemas.microsoft.com/office/drawing/2014/main" id="{C6A1AF74-BFCE-492C-B0F5-651C18368B7B}"/>
              </a:ext>
            </a:extLst>
          </p:cNvPr>
          <p:cNvSpPr>
            <a:spLocks noGrp="1"/>
          </p:cNvSpPr>
          <p:nvPr/>
        </p:nvSpPr>
        <p:spPr>
          <a:xfrm>
            <a:off x="5181600" y="32766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890AD"/>
                </a:solidFill>
              </a:defRPr>
            </a:pPr>
            <a:r>
              <a:rPr sz="825" b="1">
                <a:solidFill>
                  <a:srgbClr val="7890AD"/>
                </a:solidFill>
              </a:rPr>
              <a:t>QUANTITY</a:t>
            </a:r>
          </a:p>
        </p:txBody>
      </p:sp>
      <p:sp>
        <p:nvSpPr>
          <p:cNvPr id="16" name="field-value-2">
            <a:extLst>
              <a:ext uri="{FF2B5EF4-FFF2-40B4-BE49-F238E27FC236}">
                <a16:creationId xmlns:a16="http://schemas.microsoft.com/office/drawing/2014/main" id="{D8EAC816-65E1-41B1-8258-1D01F2264B00}"/>
              </a:ext>
            </a:extLst>
          </p:cNvPr>
          <p:cNvSpPr>
            <a:spLocks noGrp="1"/>
          </p:cNvSpPr>
          <p:nvPr/>
        </p:nvSpPr>
        <p:spPr>
          <a:xfrm>
            <a:off x="5181600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50 units</a:t>
            </a:r>
          </a:p>
        </p:txBody>
      </p:sp>
      <p:sp>
        <p:nvSpPr>
          <p:cNvPr id="17" name="field-3">
            <a:extLst>
              <a:ext uri="{FF2B5EF4-FFF2-40B4-BE49-F238E27FC236}">
                <a16:creationId xmlns:a16="http://schemas.microsoft.com/office/drawing/2014/main" id="{85B64245-5628-422C-AAE9-78480BCAD358}"/>
              </a:ext>
            </a:extLst>
          </p:cNvPr>
          <p:cNvSpPr>
            <a:spLocks noGrp="1"/>
          </p:cNvSpPr>
          <p:nvPr/>
        </p:nvSpPr>
        <p:spPr>
          <a:xfrm>
            <a:off x="7172325" y="3028950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field-accent-3">
            <a:extLst>
              <a:ext uri="{FF2B5EF4-FFF2-40B4-BE49-F238E27FC236}">
                <a16:creationId xmlns:a16="http://schemas.microsoft.com/office/drawing/2014/main" id="{FEA51258-C28B-4528-8C2E-2BB750B0A610}"/>
              </a:ext>
            </a:extLst>
          </p:cNvPr>
          <p:cNvSpPr>
            <a:spLocks noGrp="1"/>
          </p:cNvSpPr>
          <p:nvPr/>
        </p:nvSpPr>
        <p:spPr>
          <a:xfrm>
            <a:off x="7172325" y="3028950"/>
            <a:ext cx="1952625" cy="66675"/>
          </a:xfrm>
          <a:prstGeom prst="roundRect">
            <a:avLst>
              <a:gd name="adj" fmla="val 0"/>
            </a:avLst>
          </a:prstGeom>
          <a:solidFill>
            <a:srgbClr val="36C5F0"/>
          </a:solidFill>
          <a:ln w="0">
            <a:noFill/>
            <a:prstDash val="solid"/>
          </a:ln>
        </p:spPr>
      </p:sp>
      <p:sp>
        <p:nvSpPr>
          <p:cNvPr id="19" name="field-label-3">
            <a:extLst>
              <a:ext uri="{FF2B5EF4-FFF2-40B4-BE49-F238E27FC236}">
                <a16:creationId xmlns:a16="http://schemas.microsoft.com/office/drawing/2014/main" id="{A282BF59-7DFE-4343-BFC4-18EBA34FA6B0}"/>
              </a:ext>
            </a:extLst>
          </p:cNvPr>
          <p:cNvSpPr>
            <a:spLocks noGrp="1"/>
          </p:cNvSpPr>
          <p:nvPr/>
        </p:nvSpPr>
        <p:spPr>
          <a:xfrm>
            <a:off x="7343775" y="32766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890AD"/>
                </a:solidFill>
              </a:defRPr>
            </a:pPr>
            <a:r>
              <a:rPr sz="825" b="1">
                <a:solidFill>
                  <a:srgbClr val="7890AD"/>
                </a:solidFill>
              </a:rPr>
              <a:t>SUPPLIER</a:t>
            </a:r>
          </a:p>
        </p:txBody>
      </p:sp>
      <p:sp>
        <p:nvSpPr>
          <p:cNvPr id="20" name="field-value-3">
            <a:extLst>
              <a:ext uri="{FF2B5EF4-FFF2-40B4-BE49-F238E27FC236}">
                <a16:creationId xmlns:a16="http://schemas.microsoft.com/office/drawing/2014/main" id="{0768BCE6-38AF-4BDA-AB0B-9EE5D6B084CF}"/>
              </a:ext>
            </a:extLst>
          </p:cNvPr>
          <p:cNvSpPr>
            <a:spLocks noGrp="1"/>
          </p:cNvSpPr>
          <p:nvPr/>
        </p:nvSpPr>
        <p:spPr>
          <a:xfrm>
            <a:off x="7343775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Supplier X</a:t>
            </a:r>
          </a:p>
        </p:txBody>
      </p:sp>
      <p:sp>
        <p:nvSpPr>
          <p:cNvPr id="21" name="field-4">
            <a:extLst>
              <a:ext uri="{FF2B5EF4-FFF2-40B4-BE49-F238E27FC236}">
                <a16:creationId xmlns:a16="http://schemas.microsoft.com/office/drawing/2014/main" id="{7B06D1B6-3F70-4AEB-825F-A9DA7DB9B5F1}"/>
              </a:ext>
            </a:extLst>
          </p:cNvPr>
          <p:cNvSpPr>
            <a:spLocks noGrp="1"/>
          </p:cNvSpPr>
          <p:nvPr/>
        </p:nvSpPr>
        <p:spPr>
          <a:xfrm>
            <a:off x="9334500" y="3028950"/>
            <a:ext cx="1952625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2" name="field-accent-4">
            <a:extLst>
              <a:ext uri="{FF2B5EF4-FFF2-40B4-BE49-F238E27FC236}">
                <a16:creationId xmlns:a16="http://schemas.microsoft.com/office/drawing/2014/main" id="{8826A780-5D6E-4B0A-B50A-63A67BBAC197}"/>
              </a:ext>
            </a:extLst>
          </p:cNvPr>
          <p:cNvSpPr>
            <a:spLocks noGrp="1"/>
          </p:cNvSpPr>
          <p:nvPr/>
        </p:nvSpPr>
        <p:spPr>
          <a:xfrm>
            <a:off x="9334500" y="3028950"/>
            <a:ext cx="1952625" cy="66675"/>
          </a:xfrm>
          <a:prstGeom prst="roundRect">
            <a:avLst>
              <a:gd name="adj" fmla="val 0"/>
            </a:avLst>
          </a:prstGeom>
          <a:solidFill>
            <a:srgbClr val="FFB020"/>
          </a:solidFill>
          <a:ln w="0">
            <a:noFill/>
            <a:prstDash val="solid"/>
          </a:ln>
        </p:spPr>
      </p:sp>
      <p:sp>
        <p:nvSpPr>
          <p:cNvPr id="23" name="field-label-4">
            <a:extLst>
              <a:ext uri="{FF2B5EF4-FFF2-40B4-BE49-F238E27FC236}">
                <a16:creationId xmlns:a16="http://schemas.microsoft.com/office/drawing/2014/main" id="{3301206C-5506-48D4-8410-15B35EB91DA8}"/>
              </a:ext>
            </a:extLst>
          </p:cNvPr>
          <p:cNvSpPr>
            <a:spLocks noGrp="1"/>
          </p:cNvSpPr>
          <p:nvPr/>
        </p:nvSpPr>
        <p:spPr>
          <a:xfrm>
            <a:off x="9505950" y="32766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7890AD"/>
                </a:solidFill>
              </a:defRPr>
            </a:pPr>
            <a:r>
              <a:rPr sz="825" b="1">
                <a:solidFill>
                  <a:srgbClr val="7890AD"/>
                </a:solidFill>
              </a:rPr>
              <a:t>LOCATION</a:t>
            </a:r>
          </a:p>
        </p:txBody>
      </p:sp>
      <p:sp>
        <p:nvSpPr>
          <p:cNvPr id="24" name="field-value-4">
            <a:extLst>
              <a:ext uri="{FF2B5EF4-FFF2-40B4-BE49-F238E27FC236}">
                <a16:creationId xmlns:a16="http://schemas.microsoft.com/office/drawing/2014/main" id="{43AA5E33-D0FA-4005-8A87-5445610516A0}"/>
              </a:ext>
            </a:extLst>
          </p:cNvPr>
          <p:cNvSpPr>
            <a:spLocks noGrp="1"/>
          </p:cNvSpPr>
          <p:nvPr/>
        </p:nvSpPr>
        <p:spPr>
          <a:xfrm>
            <a:off x="9505950" y="3562350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Shelf B</a:t>
            </a:r>
          </a:p>
        </p:txBody>
      </p:sp>
      <p:sp>
        <p:nvSpPr>
          <p:cNvPr id="25" name="ai response">
            <a:extLst>
              <a:ext uri="{FF2B5EF4-FFF2-40B4-BE49-F238E27FC236}">
                <a16:creationId xmlns:a16="http://schemas.microsoft.com/office/drawing/2014/main" id="{61B535B4-7C93-46BF-8973-4D949CC029A0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DCEBFF"/>
                </a:solidFill>
              </a:defRPr>
            </a:pPr>
            <a:r>
              <a:rPr sz="1725" b="1">
                <a:solidFill>
                  <a:srgbClr val="DCEBFF"/>
                </a:solidFill>
              </a:rPr>
              <a:t>AI: “Receive 50 Blue Widgets at Shelf B. Confirm?”</a:t>
            </a:r>
          </a:p>
        </p:txBody>
      </p:sp>
      <p:sp>
        <p:nvSpPr>
          <p:cNvPr id="26" name="confirm button">
            <a:extLst>
              <a:ext uri="{FF2B5EF4-FFF2-40B4-BE49-F238E27FC236}">
                <a16:creationId xmlns:a16="http://schemas.microsoft.com/office/drawing/2014/main" id="{1032F1BF-A579-40EB-993D-4406159918B7}"/>
              </a:ext>
            </a:extLst>
          </p:cNvPr>
          <p:cNvSpPr>
            <a:spLocks noGrp="1"/>
          </p:cNvSpPr>
          <p:nvPr/>
        </p:nvSpPr>
        <p:spPr>
          <a:xfrm>
            <a:off x="9029700" y="4629150"/>
            <a:ext cx="2476500" cy="609600"/>
          </a:xfrm>
          <a:prstGeom prst="roundRect">
            <a:avLst>
              <a:gd name="adj" fmla="val 18750"/>
            </a:avLst>
          </a:prstGeom>
          <a:solidFill>
            <a:srgbClr val="15B87A"/>
          </a:solidFill>
          <a:ln w="0">
            <a:noFill/>
            <a:prstDash val="solid"/>
          </a:ln>
        </p:spPr>
      </p:sp>
      <p:sp>
        <p:nvSpPr>
          <p:cNvPr id="27" name="confirm text">
            <a:extLst>
              <a:ext uri="{FF2B5EF4-FFF2-40B4-BE49-F238E27FC236}">
                <a16:creationId xmlns:a16="http://schemas.microsoft.com/office/drawing/2014/main" id="{79F84EE8-01AF-429E-91A9-DA9C42EDB0DE}"/>
              </a:ext>
            </a:extLst>
          </p:cNvPr>
          <p:cNvSpPr>
            <a:spLocks noGrp="1"/>
          </p:cNvSpPr>
          <p:nvPr/>
        </p:nvSpPr>
        <p:spPr>
          <a:xfrm>
            <a:off x="9258300" y="4791075"/>
            <a:ext cx="2019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✓  CONFIRM</a:t>
            </a:r>
          </a:p>
        </p:txBody>
      </p:sp>
      <p:sp>
        <p:nvSpPr>
          <p:cNvPr id="28" name="safety note">
            <a:extLst>
              <a:ext uri="{FF2B5EF4-FFF2-40B4-BE49-F238E27FC236}">
                <a16:creationId xmlns:a16="http://schemas.microsoft.com/office/drawing/2014/main" id="{CC406CB8-C048-480D-BEC7-AC6B46749F62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FC3DD"/>
                </a:solidFill>
              </a:defRPr>
            </a:pPr>
            <a:r>
              <a:rPr sz="1200" b="0">
                <a:solidFill>
                  <a:srgbClr val="AFC3DD"/>
                </a:solidFill>
              </a:rPr>
              <a:t>Inventory changes only after worker confirmation and business-rule validation.</a:t>
            </a:r>
          </a:p>
        </p:txBody>
      </p:sp>
      <p:sp>
        <p:nvSpPr>
          <p:cNvPr id="29" name="footer-3">
            <a:extLst>
              <a:ext uri="{FF2B5EF4-FFF2-40B4-BE49-F238E27FC236}">
                <a16:creationId xmlns:a16="http://schemas.microsoft.com/office/drawing/2014/main" id="{BAA69E42-4EF1-405C-9F68-BDC0B323DB7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E96B5"/>
                </a:solidFill>
              </a:defRPr>
            </a:pPr>
            <a:r>
              <a:rPr sz="750" b="1">
                <a:solidFill>
                  <a:srgbClr val="7E96B5"/>
                </a:solidFill>
              </a:rPr>
              <a:t>AI VOICE INVENTORY  •  03</a:t>
            </a:r>
          </a:p>
        </p:txBody>
      </p:sp>
      <p:pic>
        <p:nvPicPr>
          <p:cNvPr id="31" name="scene-03">
            <a:hlinkClick r:id="" action="ppaction://media"/>
            <a:extLst>
              <a:ext uri="{FF2B5EF4-FFF2-40B4-BE49-F238E27FC236}">
                <a16:creationId xmlns:a16="http://schemas.microsoft.com/office/drawing/2014/main" id="{DBF75999-6B3E-7125-4E68-EBFB87A8D9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4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>
        <p:fade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03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ipeline header">
            <a:extLst>
              <a:ext uri="{FF2B5EF4-FFF2-40B4-BE49-F238E27FC236}">
                <a16:creationId xmlns:a16="http://schemas.microsoft.com/office/drawing/2014/main" id="{373F67E2-922C-4C28-8C60-AB661A5A26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428750"/>
          </a:xfrm>
          <a:prstGeom prst="roundRect">
            <a:avLst>
              <a:gd name="adj" fmla="val 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eyebrow-Real-time processing">
            <a:extLst>
              <a:ext uri="{FF2B5EF4-FFF2-40B4-BE49-F238E27FC236}">
                <a16:creationId xmlns:a16="http://schemas.microsoft.com/office/drawing/2014/main" id="{2C55298C-6000-436E-BBE5-5F92EF9C42B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6C5F0"/>
                </a:solidFill>
              </a:defRPr>
            </a:pPr>
            <a:r>
              <a:rPr sz="1050" b="1">
                <a:solidFill>
                  <a:srgbClr val="36C5F0"/>
                </a:solidFill>
              </a:rPr>
              <a:t>REAL-TIME PROCESSING</a:t>
            </a:r>
          </a:p>
        </p:txBody>
      </p:sp>
      <p:sp>
        <p:nvSpPr>
          <p:cNvPr id="4" name="pipeline title">
            <a:extLst>
              <a:ext uri="{FF2B5EF4-FFF2-40B4-BE49-F238E27FC236}">
                <a16:creationId xmlns:a16="http://schemas.microsoft.com/office/drawing/2014/main" id="{C0877FA8-DD7F-4E00-B4C0-A9D669548B2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Every update passes through a secure, auditable workflow</a:t>
            </a:r>
          </a:p>
        </p:txBody>
      </p:sp>
      <p:sp>
        <p:nvSpPr>
          <p:cNvPr id="5" name="pipeline-label-0">
            <a:extLst>
              <a:ext uri="{FF2B5EF4-FFF2-40B4-BE49-F238E27FC236}">
                <a16:creationId xmlns:a16="http://schemas.microsoft.com/office/drawing/2014/main" id="{AAB3D792-87C9-4366-8244-1F102486C96B}"/>
              </a:ext>
            </a:extLst>
          </p:cNvPr>
          <p:cNvSpPr>
            <a:spLocks noGrp="1"/>
          </p:cNvSpPr>
          <p:nvPr/>
        </p:nvSpPr>
        <p:spPr>
          <a:xfrm>
            <a:off x="361950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0C2A53"/>
          </a:solidFill>
          <a:ln w="9525">
            <a:solidFill>
              <a:srgbClr val="2F67A7"/>
            </a:solidFill>
            <a:prstDash val="solid"/>
          </a:ln>
        </p:spPr>
      </p:sp>
      <p:sp>
        <p:nvSpPr>
          <p:cNvPr id="6" name="pipeline-text-0">
            <a:extLst>
              <a:ext uri="{FF2B5EF4-FFF2-40B4-BE49-F238E27FC236}">
                <a16:creationId xmlns:a16="http://schemas.microsoft.com/office/drawing/2014/main" id="{3335577B-1D66-4751-B818-D14265A5EF6F}"/>
              </a:ext>
            </a:extLst>
          </p:cNvPr>
          <p:cNvSpPr>
            <a:spLocks noGrp="1"/>
          </p:cNvSpPr>
          <p:nvPr/>
        </p:nvSpPr>
        <p:spPr>
          <a:xfrm>
            <a:off x="438150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Speech-to-Text</a:t>
            </a:r>
          </a:p>
        </p:txBody>
      </p:sp>
      <p:sp>
        <p:nvSpPr>
          <p:cNvPr id="7" name="pipeline-label-1">
            <a:extLst>
              <a:ext uri="{FF2B5EF4-FFF2-40B4-BE49-F238E27FC236}">
                <a16:creationId xmlns:a16="http://schemas.microsoft.com/office/drawing/2014/main" id="{D0469E87-069B-409D-98C2-31BE88B6268C}"/>
              </a:ext>
            </a:extLst>
          </p:cNvPr>
          <p:cNvSpPr>
            <a:spLocks noGrp="1"/>
          </p:cNvSpPr>
          <p:nvPr/>
        </p:nvSpPr>
        <p:spPr>
          <a:xfrm>
            <a:off x="2333625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0C2A53"/>
          </a:solidFill>
          <a:ln w="9525">
            <a:solidFill>
              <a:srgbClr val="2F67A7"/>
            </a:solidFill>
            <a:prstDash val="solid"/>
          </a:ln>
        </p:spPr>
      </p:sp>
      <p:sp>
        <p:nvSpPr>
          <p:cNvPr id="8" name="pipeline-text-1">
            <a:extLst>
              <a:ext uri="{FF2B5EF4-FFF2-40B4-BE49-F238E27FC236}">
                <a16:creationId xmlns:a16="http://schemas.microsoft.com/office/drawing/2014/main" id="{4DEF941F-6458-437C-B3C8-288FBA8FD665}"/>
              </a:ext>
            </a:extLst>
          </p:cNvPr>
          <p:cNvSpPr>
            <a:spLocks noGrp="1"/>
          </p:cNvSpPr>
          <p:nvPr/>
        </p:nvSpPr>
        <p:spPr>
          <a:xfrm>
            <a:off x="2409825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AI Understanding</a:t>
            </a:r>
          </a:p>
        </p:txBody>
      </p:sp>
      <p:sp>
        <p:nvSpPr>
          <p:cNvPr id="9" name="pipeline-label-2">
            <a:extLst>
              <a:ext uri="{FF2B5EF4-FFF2-40B4-BE49-F238E27FC236}">
                <a16:creationId xmlns:a16="http://schemas.microsoft.com/office/drawing/2014/main" id="{6691C88A-EA50-4FC0-AA55-D7B2E607DC5C}"/>
              </a:ext>
            </a:extLst>
          </p:cNvPr>
          <p:cNvSpPr>
            <a:spLocks noGrp="1"/>
          </p:cNvSpPr>
          <p:nvPr/>
        </p:nvSpPr>
        <p:spPr>
          <a:xfrm>
            <a:off x="4305300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0C2A53"/>
          </a:solidFill>
          <a:ln w="9525">
            <a:solidFill>
              <a:srgbClr val="2F67A7"/>
            </a:solidFill>
            <a:prstDash val="solid"/>
          </a:ln>
        </p:spPr>
      </p:sp>
      <p:sp>
        <p:nvSpPr>
          <p:cNvPr id="10" name="pipeline-text-2">
            <a:extLst>
              <a:ext uri="{FF2B5EF4-FFF2-40B4-BE49-F238E27FC236}">
                <a16:creationId xmlns:a16="http://schemas.microsoft.com/office/drawing/2014/main" id="{1840B14A-1E55-474C-86DA-1DFB7F51AE60}"/>
              </a:ext>
            </a:extLst>
          </p:cNvPr>
          <p:cNvSpPr>
            <a:spLocks noGrp="1"/>
          </p:cNvSpPr>
          <p:nvPr/>
        </p:nvSpPr>
        <p:spPr>
          <a:xfrm>
            <a:off x="4381500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Inventory Rules</a:t>
            </a:r>
          </a:p>
        </p:txBody>
      </p:sp>
      <p:sp>
        <p:nvSpPr>
          <p:cNvPr id="11" name="pipeline-label-3">
            <a:extLst>
              <a:ext uri="{FF2B5EF4-FFF2-40B4-BE49-F238E27FC236}">
                <a16:creationId xmlns:a16="http://schemas.microsoft.com/office/drawing/2014/main" id="{C4703EEA-382B-4DAE-91D0-D2E4FADC95F0}"/>
              </a:ext>
            </a:extLst>
          </p:cNvPr>
          <p:cNvSpPr>
            <a:spLocks noGrp="1"/>
          </p:cNvSpPr>
          <p:nvPr/>
        </p:nvSpPr>
        <p:spPr>
          <a:xfrm>
            <a:off x="6276975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0C2A53"/>
          </a:solidFill>
          <a:ln w="9525">
            <a:solidFill>
              <a:srgbClr val="2F67A7"/>
            </a:solidFill>
            <a:prstDash val="solid"/>
          </a:ln>
        </p:spPr>
      </p:sp>
      <p:sp>
        <p:nvSpPr>
          <p:cNvPr id="12" name="pipeline-text-3">
            <a:extLst>
              <a:ext uri="{FF2B5EF4-FFF2-40B4-BE49-F238E27FC236}">
                <a16:creationId xmlns:a16="http://schemas.microsoft.com/office/drawing/2014/main" id="{131CEC14-8E94-417C-AE40-FE7F1B519E7E}"/>
              </a:ext>
            </a:extLst>
          </p:cNvPr>
          <p:cNvSpPr>
            <a:spLocks noGrp="1"/>
          </p:cNvSpPr>
          <p:nvPr/>
        </p:nvSpPr>
        <p:spPr>
          <a:xfrm>
            <a:off x="6353175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3" name="pipeline-label-4">
            <a:extLst>
              <a:ext uri="{FF2B5EF4-FFF2-40B4-BE49-F238E27FC236}">
                <a16:creationId xmlns:a16="http://schemas.microsoft.com/office/drawing/2014/main" id="{31078449-78D7-4519-BA1E-43DD23F7A5D4}"/>
              </a:ext>
            </a:extLst>
          </p:cNvPr>
          <p:cNvSpPr>
            <a:spLocks noGrp="1"/>
          </p:cNvSpPr>
          <p:nvPr/>
        </p:nvSpPr>
        <p:spPr>
          <a:xfrm>
            <a:off x="8248650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0C2A53"/>
          </a:solidFill>
          <a:ln w="9525">
            <a:solidFill>
              <a:srgbClr val="2F67A7"/>
            </a:solidFill>
            <a:prstDash val="solid"/>
          </a:ln>
        </p:spPr>
      </p:sp>
      <p:sp>
        <p:nvSpPr>
          <p:cNvPr id="14" name="pipeline-text-4">
            <a:extLst>
              <a:ext uri="{FF2B5EF4-FFF2-40B4-BE49-F238E27FC236}">
                <a16:creationId xmlns:a16="http://schemas.microsoft.com/office/drawing/2014/main" id="{0A586E5F-2016-4150-A9BA-0B03BFFBABC2}"/>
              </a:ext>
            </a:extLst>
          </p:cNvPr>
          <p:cNvSpPr>
            <a:spLocks noGrp="1"/>
          </p:cNvSpPr>
          <p:nvPr/>
        </p:nvSpPr>
        <p:spPr>
          <a:xfrm>
            <a:off x="8324850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15" name="pipeline-label-5">
            <a:extLst>
              <a:ext uri="{FF2B5EF4-FFF2-40B4-BE49-F238E27FC236}">
                <a16:creationId xmlns:a16="http://schemas.microsoft.com/office/drawing/2014/main" id="{3E1AD5EB-8132-457B-80DC-9A2211A23EF9}"/>
              </a:ext>
            </a:extLst>
          </p:cNvPr>
          <p:cNvSpPr>
            <a:spLocks noGrp="1"/>
          </p:cNvSpPr>
          <p:nvPr/>
        </p:nvSpPr>
        <p:spPr>
          <a:xfrm>
            <a:off x="10220325" y="5286375"/>
            <a:ext cx="1752600" cy="495300"/>
          </a:xfrm>
          <a:prstGeom prst="roundRect">
            <a:avLst>
              <a:gd name="adj" fmla="val 23077"/>
            </a:avLst>
          </a:prstGeom>
          <a:solidFill>
            <a:srgbClr val="123D32"/>
          </a:solidFill>
          <a:ln w="9525">
            <a:solidFill>
              <a:srgbClr val="15B87A"/>
            </a:solidFill>
            <a:prstDash val="solid"/>
          </a:ln>
        </p:spPr>
      </p:sp>
      <p:sp>
        <p:nvSpPr>
          <p:cNvPr id="16" name="pipeline-text-5">
            <a:extLst>
              <a:ext uri="{FF2B5EF4-FFF2-40B4-BE49-F238E27FC236}">
                <a16:creationId xmlns:a16="http://schemas.microsoft.com/office/drawing/2014/main" id="{6102FD1A-9D7B-4E64-BC78-626431E05818}"/>
              </a:ext>
            </a:extLst>
          </p:cNvPr>
          <p:cNvSpPr>
            <a:spLocks noGrp="1"/>
          </p:cNvSpPr>
          <p:nvPr/>
        </p:nvSpPr>
        <p:spPr>
          <a:xfrm>
            <a:off x="10296525" y="5429250"/>
            <a:ext cx="1600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Audit History</a:t>
            </a:r>
          </a:p>
        </p:txBody>
      </p:sp>
      <p:sp>
        <p:nvSpPr>
          <p:cNvPr id="17" name="pipeline foot">
            <a:extLst>
              <a:ext uri="{FF2B5EF4-FFF2-40B4-BE49-F238E27FC236}">
                <a16:creationId xmlns:a16="http://schemas.microsoft.com/office/drawing/2014/main" id="{843879D3-ACA4-44F3-9CBF-F7E2641A1997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A7C5E8"/>
                </a:solidFill>
              </a:defRPr>
            </a:pPr>
            <a:r>
              <a:rPr sz="1275" b="1">
                <a:solidFill>
                  <a:srgbClr val="A7C5E8"/>
                </a:solidFill>
              </a:rPr>
              <a:t>Voice → AI → Validation → Database → Dashboard → Audit</a:t>
            </a:r>
          </a:p>
        </p:txBody>
      </p:sp>
      <p:pic>
        <p:nvPicPr>
          <p:cNvPr id="19" name="scene-04">
            <a:hlinkClick r:id="" action="ppaction://media"/>
            <a:extLst>
              <a:ext uri="{FF2B5EF4-FFF2-40B4-BE49-F238E27FC236}">
                <a16:creationId xmlns:a16="http://schemas.microsoft.com/office/drawing/2014/main" id="{9F03EFA4-F756-F28D-40E7-FDCC57236F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259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2000">
        <p:fade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manager top">
            <a:extLst>
              <a:ext uri="{FF2B5EF4-FFF2-40B4-BE49-F238E27FC236}">
                <a16:creationId xmlns:a16="http://schemas.microsoft.com/office/drawing/2014/main" id="{D80D090B-7168-485C-A199-B4E06F47A4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0"/>
          </a:xfrm>
          <a:prstGeom prst="roundRect">
            <a:avLst>
              <a:gd name="adj" fmla="val 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eyebrow-Manager control center">
            <a:extLst>
              <a:ext uri="{FF2B5EF4-FFF2-40B4-BE49-F238E27FC236}">
                <a16:creationId xmlns:a16="http://schemas.microsoft.com/office/drawing/2014/main" id="{51A3076D-E03F-4F85-BE21-4016DBD6974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36C5F0"/>
                </a:solidFill>
              </a:defRPr>
            </a:pPr>
            <a:r>
              <a:rPr sz="1050" b="1">
                <a:solidFill>
                  <a:srgbClr val="36C5F0"/>
                </a:solidFill>
              </a:rPr>
              <a:t>MANAGER CONTROL CENTER</a:t>
            </a:r>
          </a:p>
        </p:txBody>
      </p:sp>
      <p:sp>
        <p:nvSpPr>
          <p:cNvPr id="4" name="manager title">
            <a:extLst>
              <a:ext uri="{FF2B5EF4-FFF2-40B4-BE49-F238E27FC236}">
                <a16:creationId xmlns:a16="http://schemas.microsoft.com/office/drawing/2014/main" id="{5CA9F441-0934-4525-8CC9-26909F3966B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800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Low stock becomes an approved supplier action</a:t>
            </a:r>
          </a:p>
        </p:txBody>
      </p:sp>
      <p:sp>
        <p:nvSpPr>
          <p:cNvPr id="5" name="kpi-0">
            <a:extLst>
              <a:ext uri="{FF2B5EF4-FFF2-40B4-BE49-F238E27FC236}">
                <a16:creationId xmlns:a16="http://schemas.microsoft.com/office/drawing/2014/main" id="{49C95963-68FA-414C-AEA1-421473A4A717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1981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" name="kpi-label-0">
            <a:extLst>
              <a:ext uri="{FF2B5EF4-FFF2-40B4-BE49-F238E27FC236}">
                <a16:creationId xmlns:a16="http://schemas.microsoft.com/office/drawing/2014/main" id="{F62C46F2-2546-418E-94B0-0936221D731C}"/>
              </a:ext>
            </a:extLst>
          </p:cNvPr>
          <p:cNvSpPr>
            <a:spLocks noGrp="1"/>
          </p:cNvSpPr>
          <p:nvPr/>
        </p:nvSpPr>
        <p:spPr>
          <a:xfrm>
            <a:off x="666750" y="18478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B90A9"/>
                </a:solidFill>
              </a:defRPr>
            </a:pPr>
            <a:r>
              <a:rPr sz="750" b="1">
                <a:solidFill>
                  <a:srgbClr val="7B90A9"/>
                </a:solidFill>
              </a:rPr>
              <a:t>TOTAL INVENTORY</a:t>
            </a:r>
          </a:p>
        </p:txBody>
      </p:sp>
      <p:sp>
        <p:nvSpPr>
          <p:cNvPr id="7" name="kpi-value-0">
            <a:extLst>
              <a:ext uri="{FF2B5EF4-FFF2-40B4-BE49-F238E27FC236}">
                <a16:creationId xmlns:a16="http://schemas.microsoft.com/office/drawing/2014/main" id="{CBB39E21-E816-4E89-A137-F770736CBFC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1A38"/>
                </a:solidFill>
              </a:defRPr>
            </a:pPr>
            <a:r>
              <a:rPr sz="1800" b="1">
                <a:solidFill>
                  <a:srgbClr val="071A38"/>
                </a:solidFill>
              </a:rPr>
              <a:t>12,480</a:t>
            </a:r>
          </a:p>
        </p:txBody>
      </p:sp>
      <p:sp>
        <p:nvSpPr>
          <p:cNvPr id="8" name="kpi-1">
            <a:extLst>
              <a:ext uri="{FF2B5EF4-FFF2-40B4-BE49-F238E27FC236}">
                <a16:creationId xmlns:a16="http://schemas.microsoft.com/office/drawing/2014/main" id="{89B78522-8C0A-4CB1-BD96-190754B7B319}"/>
              </a:ext>
            </a:extLst>
          </p:cNvPr>
          <p:cNvSpPr>
            <a:spLocks noGrp="1"/>
          </p:cNvSpPr>
          <p:nvPr/>
        </p:nvSpPr>
        <p:spPr>
          <a:xfrm>
            <a:off x="2705100" y="1695450"/>
            <a:ext cx="1981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9" name="kpi-label-1">
            <a:extLst>
              <a:ext uri="{FF2B5EF4-FFF2-40B4-BE49-F238E27FC236}">
                <a16:creationId xmlns:a16="http://schemas.microsoft.com/office/drawing/2014/main" id="{460F57B1-32C9-4EDA-983B-1027DC595782}"/>
              </a:ext>
            </a:extLst>
          </p:cNvPr>
          <p:cNvSpPr>
            <a:spLocks noGrp="1"/>
          </p:cNvSpPr>
          <p:nvPr/>
        </p:nvSpPr>
        <p:spPr>
          <a:xfrm>
            <a:off x="2857500" y="18478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B90A9"/>
                </a:solidFill>
              </a:defRPr>
            </a:pPr>
            <a:r>
              <a:rPr sz="750" b="1">
                <a:solidFill>
                  <a:srgbClr val="7B90A9"/>
                </a:solidFill>
              </a:rPr>
              <a:t>PENDING APPROVALS</a:t>
            </a:r>
          </a:p>
        </p:txBody>
      </p:sp>
      <p:sp>
        <p:nvSpPr>
          <p:cNvPr id="10" name="kpi-value-1">
            <a:extLst>
              <a:ext uri="{FF2B5EF4-FFF2-40B4-BE49-F238E27FC236}">
                <a16:creationId xmlns:a16="http://schemas.microsoft.com/office/drawing/2014/main" id="{15E14081-B9E2-4B3F-84A6-AEB450A4E13B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1A38"/>
                </a:solidFill>
              </a:defRPr>
            </a:pPr>
            <a:r>
              <a:rPr sz="1800" b="1">
                <a:solidFill>
                  <a:srgbClr val="071A38"/>
                </a:solidFill>
              </a:rPr>
              <a:t>3</a:t>
            </a:r>
          </a:p>
        </p:txBody>
      </p:sp>
      <p:sp>
        <p:nvSpPr>
          <p:cNvPr id="11" name="kpi-2">
            <a:extLst>
              <a:ext uri="{FF2B5EF4-FFF2-40B4-BE49-F238E27FC236}">
                <a16:creationId xmlns:a16="http://schemas.microsoft.com/office/drawing/2014/main" id="{2E7B3735-A3AD-44C6-9BBC-32806B794370}"/>
              </a:ext>
            </a:extLst>
          </p:cNvPr>
          <p:cNvSpPr>
            <a:spLocks noGrp="1"/>
          </p:cNvSpPr>
          <p:nvPr/>
        </p:nvSpPr>
        <p:spPr>
          <a:xfrm>
            <a:off x="4895850" y="1695450"/>
            <a:ext cx="1981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kpi-label-2">
            <a:extLst>
              <a:ext uri="{FF2B5EF4-FFF2-40B4-BE49-F238E27FC236}">
                <a16:creationId xmlns:a16="http://schemas.microsoft.com/office/drawing/2014/main" id="{3530B872-2F21-412B-A376-4EBB7D2BAAB4}"/>
              </a:ext>
            </a:extLst>
          </p:cNvPr>
          <p:cNvSpPr>
            <a:spLocks noGrp="1"/>
          </p:cNvSpPr>
          <p:nvPr/>
        </p:nvSpPr>
        <p:spPr>
          <a:xfrm>
            <a:off x="5048250" y="18478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B90A9"/>
                </a:solidFill>
              </a:defRPr>
            </a:pPr>
            <a:r>
              <a:rPr sz="750" b="1">
                <a:solidFill>
                  <a:srgbClr val="7B90A9"/>
                </a:solidFill>
              </a:rPr>
              <a:t>STOCK ACCURACY</a:t>
            </a:r>
          </a:p>
        </p:txBody>
      </p:sp>
      <p:sp>
        <p:nvSpPr>
          <p:cNvPr id="13" name="kpi-value-2">
            <a:extLst>
              <a:ext uri="{FF2B5EF4-FFF2-40B4-BE49-F238E27FC236}">
                <a16:creationId xmlns:a16="http://schemas.microsoft.com/office/drawing/2014/main" id="{23B63841-5E1F-4BBA-8DE1-6107081C2412}"/>
              </a:ext>
            </a:extLst>
          </p:cNvPr>
          <p:cNvSpPr>
            <a:spLocks noGrp="1"/>
          </p:cNvSpPr>
          <p:nvPr/>
        </p:nvSpPr>
        <p:spPr>
          <a:xfrm>
            <a:off x="5048250" y="20955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1A38"/>
                </a:solidFill>
              </a:defRPr>
            </a:pPr>
            <a:r>
              <a:rPr sz="1800" b="1">
                <a:solidFill>
                  <a:srgbClr val="071A38"/>
                </a:solidFill>
              </a:rPr>
              <a:t>98.7%</a:t>
            </a:r>
          </a:p>
        </p:txBody>
      </p:sp>
      <p:sp>
        <p:nvSpPr>
          <p:cNvPr id="14" name="kpi-3">
            <a:extLst>
              <a:ext uri="{FF2B5EF4-FFF2-40B4-BE49-F238E27FC236}">
                <a16:creationId xmlns:a16="http://schemas.microsoft.com/office/drawing/2014/main" id="{2B85F1AE-05C6-4BA6-AE22-602913420DF5}"/>
              </a:ext>
            </a:extLst>
          </p:cNvPr>
          <p:cNvSpPr>
            <a:spLocks noGrp="1"/>
          </p:cNvSpPr>
          <p:nvPr/>
        </p:nvSpPr>
        <p:spPr>
          <a:xfrm>
            <a:off x="7086600" y="1695450"/>
            <a:ext cx="19812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kpi-label-3">
            <a:extLst>
              <a:ext uri="{FF2B5EF4-FFF2-40B4-BE49-F238E27FC236}">
                <a16:creationId xmlns:a16="http://schemas.microsoft.com/office/drawing/2014/main" id="{59F7175B-E23B-4079-B833-33F2E662B9A8}"/>
              </a:ext>
            </a:extLst>
          </p:cNvPr>
          <p:cNvSpPr>
            <a:spLocks noGrp="1"/>
          </p:cNvSpPr>
          <p:nvPr/>
        </p:nvSpPr>
        <p:spPr>
          <a:xfrm>
            <a:off x="7239000" y="1847850"/>
            <a:ext cx="1676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B90A9"/>
                </a:solidFill>
              </a:defRPr>
            </a:pPr>
            <a:r>
              <a:rPr sz="750" b="1">
                <a:solidFill>
                  <a:srgbClr val="7B90A9"/>
                </a:solidFill>
              </a:rPr>
              <a:t>CYCLE COUNTS</a:t>
            </a:r>
          </a:p>
        </p:txBody>
      </p:sp>
      <p:sp>
        <p:nvSpPr>
          <p:cNvPr id="16" name="kpi-value-3">
            <a:extLst>
              <a:ext uri="{FF2B5EF4-FFF2-40B4-BE49-F238E27FC236}">
                <a16:creationId xmlns:a16="http://schemas.microsoft.com/office/drawing/2014/main" id="{8C2FB5B6-3B1B-4515-839C-99965EC1C672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676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71A38"/>
                </a:solidFill>
              </a:defRPr>
            </a:pPr>
            <a:r>
              <a:rPr sz="1800" b="1">
                <a:solidFill>
                  <a:srgbClr val="071A38"/>
                </a:solidFill>
              </a:rPr>
              <a:t>24</a:t>
            </a:r>
          </a:p>
        </p:txBody>
      </p:sp>
      <p:sp>
        <p:nvSpPr>
          <p:cNvPr id="17" name="alert card">
            <a:extLst>
              <a:ext uri="{FF2B5EF4-FFF2-40B4-BE49-F238E27FC236}">
                <a16:creationId xmlns:a16="http://schemas.microsoft.com/office/drawing/2014/main" id="{637C70F1-F5D5-445B-B177-18FA373BD320}"/>
              </a:ext>
            </a:extLst>
          </p:cNvPr>
          <p:cNvSpPr>
            <a:spLocks noGrp="1"/>
          </p:cNvSpPr>
          <p:nvPr/>
        </p:nvSpPr>
        <p:spPr>
          <a:xfrm>
            <a:off x="7620000" y="3067050"/>
            <a:ext cx="3905250" cy="1066800"/>
          </a:xfrm>
          <a:prstGeom prst="roundRect">
            <a:avLst>
              <a:gd name="adj" fmla="val 10714"/>
            </a:avLst>
          </a:prstGeom>
          <a:solidFill>
            <a:srgbClr val="FFF7E6"/>
          </a:solidFill>
          <a:ln w="9525">
            <a:solidFill>
              <a:srgbClr val="F2BD61"/>
            </a:solidFill>
            <a:prstDash val="solid"/>
          </a:ln>
        </p:spPr>
      </p:sp>
      <p:sp>
        <p:nvSpPr>
          <p:cNvPr id="18" name="alert label">
            <a:extLst>
              <a:ext uri="{FF2B5EF4-FFF2-40B4-BE49-F238E27FC236}">
                <a16:creationId xmlns:a16="http://schemas.microsoft.com/office/drawing/2014/main" id="{EF0E7248-077C-403A-91C7-DA33CC633EB5}"/>
              </a:ext>
            </a:extLst>
          </p:cNvPr>
          <p:cNvSpPr>
            <a:spLocks noGrp="1"/>
          </p:cNvSpPr>
          <p:nvPr/>
        </p:nvSpPr>
        <p:spPr>
          <a:xfrm>
            <a:off x="7886700" y="32575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A46508"/>
                </a:solidFill>
              </a:defRPr>
            </a:pPr>
            <a:r>
              <a:rPr sz="900" b="1">
                <a:solidFill>
                  <a:srgbClr val="A46508"/>
                </a:solidFill>
              </a:rPr>
              <a:t>LOW STOCK ALERT</a:t>
            </a:r>
          </a:p>
        </p:txBody>
      </p:sp>
      <p:sp>
        <p:nvSpPr>
          <p:cNvPr id="19" name="alert title">
            <a:extLst>
              <a:ext uri="{FF2B5EF4-FFF2-40B4-BE49-F238E27FC236}">
                <a16:creationId xmlns:a16="http://schemas.microsoft.com/office/drawing/2014/main" id="{C1C88E00-E5A0-4A7C-B4B1-6CD972F8CD4D}"/>
              </a:ext>
            </a:extLst>
          </p:cNvPr>
          <p:cNvSpPr>
            <a:spLocks noGrp="1"/>
          </p:cNvSpPr>
          <p:nvPr/>
        </p:nvSpPr>
        <p:spPr>
          <a:xfrm>
            <a:off x="7886700" y="35433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8440B"/>
                </a:solidFill>
              </a:defRPr>
            </a:pPr>
            <a:r>
              <a:rPr sz="1425" b="1">
                <a:solidFill>
                  <a:srgbClr val="68440B"/>
                </a:solidFill>
              </a:rPr>
              <a:t>Blue Widget below safety stock</a:t>
            </a:r>
          </a:p>
        </p:txBody>
      </p:sp>
      <p:sp>
        <p:nvSpPr>
          <p:cNvPr id="20" name="alert action">
            <a:extLst>
              <a:ext uri="{FF2B5EF4-FFF2-40B4-BE49-F238E27FC236}">
                <a16:creationId xmlns:a16="http://schemas.microsoft.com/office/drawing/2014/main" id="{C7209425-6211-4B63-B888-309821F811C3}"/>
              </a:ext>
            </a:extLst>
          </p:cNvPr>
          <p:cNvSpPr>
            <a:spLocks noGrp="1"/>
          </p:cNvSpPr>
          <p:nvPr/>
        </p:nvSpPr>
        <p:spPr>
          <a:xfrm>
            <a:off x="7886700" y="38290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8C6A31"/>
                </a:solidFill>
              </a:defRPr>
            </a:pPr>
            <a:r>
              <a:rPr sz="975" b="0">
                <a:solidFill>
                  <a:srgbClr val="8C6A31"/>
                </a:solidFill>
              </a:rPr>
              <a:t>Purchase-order draft created automatically</a:t>
            </a:r>
          </a:p>
        </p:txBody>
      </p:sp>
      <p:sp>
        <p:nvSpPr>
          <p:cNvPr id="21" name="approval status">
            <a:extLst>
              <a:ext uri="{FF2B5EF4-FFF2-40B4-BE49-F238E27FC236}">
                <a16:creationId xmlns:a16="http://schemas.microsoft.com/office/drawing/2014/main" id="{E4AF14D6-785B-422D-8A9B-C524158E841B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3905250" cy="857250"/>
          </a:xfrm>
          <a:prstGeom prst="roundRect">
            <a:avLst>
              <a:gd name="adj" fmla="val 13333"/>
            </a:avLst>
          </a:prstGeom>
          <a:solidFill>
            <a:srgbClr val="E9F8F2"/>
          </a:solidFill>
          <a:ln w="9525">
            <a:solidFill>
              <a:srgbClr val="7ED5B3"/>
            </a:solidFill>
            <a:prstDash val="solid"/>
          </a:ln>
        </p:spPr>
      </p:sp>
      <p:sp>
        <p:nvSpPr>
          <p:cNvPr id="22" name="approval">
            <a:extLst>
              <a:ext uri="{FF2B5EF4-FFF2-40B4-BE49-F238E27FC236}">
                <a16:creationId xmlns:a16="http://schemas.microsoft.com/office/drawing/2014/main" id="{1053738C-41CD-4A87-A4BC-8EFAD3098ED9}"/>
              </a:ext>
            </a:extLst>
          </p:cNvPr>
          <p:cNvSpPr>
            <a:spLocks noGrp="1"/>
          </p:cNvSpPr>
          <p:nvPr/>
        </p:nvSpPr>
        <p:spPr>
          <a:xfrm>
            <a:off x="7886700" y="46482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37451"/>
                </a:solidFill>
              </a:defRPr>
            </a:pPr>
            <a:r>
              <a:rPr sz="1425" b="1">
                <a:solidFill>
                  <a:srgbClr val="137451"/>
                </a:solidFill>
              </a:rPr>
              <a:t>Manager approved  →  Email Sent ✓</a:t>
            </a:r>
          </a:p>
        </p:txBody>
      </p:sp>
      <p:sp>
        <p:nvSpPr>
          <p:cNvPr id="23" name="footer-5">
            <a:extLst>
              <a:ext uri="{FF2B5EF4-FFF2-40B4-BE49-F238E27FC236}">
                <a16:creationId xmlns:a16="http://schemas.microsoft.com/office/drawing/2014/main" id="{6104674B-95B8-4986-B1E0-FA6F5787387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E96B5"/>
                </a:solidFill>
              </a:defRPr>
            </a:pPr>
            <a:r>
              <a:rPr sz="750" b="1">
                <a:solidFill>
                  <a:srgbClr val="7E96B5"/>
                </a:solidFill>
              </a:rPr>
              <a:t>AI VOICE INVENTORY  •  05</a:t>
            </a:r>
          </a:p>
        </p:txBody>
      </p:sp>
      <p:pic>
        <p:nvPicPr>
          <p:cNvPr id="25" name="scene-05">
            <a:hlinkClick r:id="" action="ppaction://media"/>
            <a:extLst>
              <a:ext uri="{FF2B5EF4-FFF2-40B4-BE49-F238E27FC236}">
                <a16:creationId xmlns:a16="http://schemas.microsoft.com/office/drawing/2014/main" id="{C6D56125-02A5-D0BB-2079-083DF739CA9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55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4000">
        <p:fade/>
      </p:transition>
    </mc:Choice>
    <mc:Fallback>
      <p:transition spd="slow" advClick="0" advTm="1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3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One platform • complete inventory control">
            <a:extLst>
              <a:ext uri="{FF2B5EF4-FFF2-40B4-BE49-F238E27FC236}">
                <a16:creationId xmlns:a16="http://schemas.microsoft.com/office/drawing/2014/main" id="{46E990FB-6FA9-42F9-9296-DC67D79CF38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246BFD"/>
                </a:solidFill>
              </a:defRPr>
            </a:pPr>
            <a:r>
              <a:rPr sz="1050" b="1">
                <a:solidFill>
                  <a:srgbClr val="246BFD"/>
                </a:solidFill>
              </a:rPr>
              <a:t>ONE PLATFORM • COMPLETE INVENTORY CONTROL</a:t>
            </a:r>
          </a:p>
        </p:txBody>
      </p:sp>
      <p:sp>
        <p:nvSpPr>
          <p:cNvPr id="2" name="features title">
            <a:extLst>
              <a:ext uri="{FF2B5EF4-FFF2-40B4-BE49-F238E27FC236}">
                <a16:creationId xmlns:a16="http://schemas.microsoft.com/office/drawing/2014/main" id="{728ED2CF-0DE8-4DC6-A241-F77FDE07EEC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071A38"/>
                </a:solidFill>
              </a:defRPr>
            </a:pPr>
            <a:r>
              <a:rPr sz="3225" b="1">
                <a:solidFill>
                  <a:srgbClr val="071A38"/>
                </a:solidFill>
              </a:rPr>
              <a:t>Designed for the full warehouse workflow</a:t>
            </a:r>
          </a:p>
        </p:txBody>
      </p:sp>
      <p:sp>
        <p:nvSpPr>
          <p:cNvPr id="3" name="feature-bg-0">
            <a:extLst>
              <a:ext uri="{FF2B5EF4-FFF2-40B4-BE49-F238E27FC236}">
                <a16:creationId xmlns:a16="http://schemas.microsoft.com/office/drawing/2014/main" id="{5065823F-4953-4DF0-98E3-95DB6F8216F4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400300" cy="32575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9E4F2"/>
            </a:solidFill>
            <a:prstDash val="solid"/>
          </a:ln>
        </p:spPr>
      </p:sp>
      <p:sp>
        <p:nvSpPr>
          <p:cNvPr id="4" name="feature-number-0">
            <a:extLst>
              <a:ext uri="{FF2B5EF4-FFF2-40B4-BE49-F238E27FC236}">
                <a16:creationId xmlns:a16="http://schemas.microsoft.com/office/drawing/2014/main" id="{E2C0EEDE-09D4-4F2B-8528-D478FEF13B88}"/>
              </a:ext>
            </a:extLst>
          </p:cNvPr>
          <p:cNvSpPr>
            <a:spLocks noGrp="1"/>
          </p:cNvSpPr>
          <p:nvPr/>
        </p:nvSpPr>
        <p:spPr>
          <a:xfrm>
            <a:off x="895350" y="21145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5" name="feature-number-text-0">
            <a:extLst>
              <a:ext uri="{FF2B5EF4-FFF2-40B4-BE49-F238E27FC236}">
                <a16:creationId xmlns:a16="http://schemas.microsoft.com/office/drawing/2014/main" id="{8B6D9674-40A9-4331-B487-1B4FE68E4178}"/>
              </a:ext>
            </a:extLst>
          </p:cNvPr>
          <p:cNvSpPr>
            <a:spLocks noGrp="1"/>
          </p:cNvSpPr>
          <p:nvPr/>
        </p:nvSpPr>
        <p:spPr>
          <a:xfrm>
            <a:off x="933450" y="2247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feature-head-0">
            <a:extLst>
              <a:ext uri="{FF2B5EF4-FFF2-40B4-BE49-F238E27FC236}">
                <a16:creationId xmlns:a16="http://schemas.microsoft.com/office/drawing/2014/main" id="{384C4A1F-8917-43CC-A8CE-0AAC2507DA74}"/>
              </a:ext>
            </a:extLst>
          </p:cNvPr>
          <p:cNvSpPr>
            <a:spLocks noGrp="1"/>
          </p:cNvSpPr>
          <p:nvPr/>
        </p:nvSpPr>
        <p:spPr>
          <a:xfrm>
            <a:off x="895350" y="29146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246BFD"/>
                </a:solidFill>
              </a:defRPr>
            </a:pPr>
            <a:r>
              <a:rPr sz="1200" b="1">
                <a:solidFill>
                  <a:srgbClr val="246BFD"/>
                </a:solidFill>
              </a:rPr>
              <a:t>CAPTURE</a:t>
            </a:r>
          </a:p>
        </p:txBody>
      </p:sp>
      <p:sp>
        <p:nvSpPr>
          <p:cNvPr id="7" name="feature-body-0">
            <a:extLst>
              <a:ext uri="{FF2B5EF4-FFF2-40B4-BE49-F238E27FC236}">
                <a16:creationId xmlns:a16="http://schemas.microsoft.com/office/drawing/2014/main" id="{EDA19C4F-4306-40A8-B32E-9BA556F254D5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19812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Voice updates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Hands-free operation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Offline synchronization</a:t>
            </a:r>
          </a:p>
        </p:txBody>
      </p:sp>
      <p:sp>
        <p:nvSpPr>
          <p:cNvPr id="8" name="feature-bg-1">
            <a:extLst>
              <a:ext uri="{FF2B5EF4-FFF2-40B4-BE49-F238E27FC236}">
                <a16:creationId xmlns:a16="http://schemas.microsoft.com/office/drawing/2014/main" id="{BD135C33-17AE-484D-96C7-5400664A1F5A}"/>
              </a:ext>
            </a:extLst>
          </p:cNvPr>
          <p:cNvSpPr>
            <a:spLocks noGrp="1"/>
          </p:cNvSpPr>
          <p:nvPr/>
        </p:nvSpPr>
        <p:spPr>
          <a:xfrm>
            <a:off x="3409950" y="1885950"/>
            <a:ext cx="2400300" cy="32575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9E4F2"/>
            </a:solidFill>
            <a:prstDash val="solid"/>
          </a:ln>
        </p:spPr>
      </p:sp>
      <p:sp>
        <p:nvSpPr>
          <p:cNvPr id="9" name="feature-number-1">
            <a:extLst>
              <a:ext uri="{FF2B5EF4-FFF2-40B4-BE49-F238E27FC236}">
                <a16:creationId xmlns:a16="http://schemas.microsoft.com/office/drawing/2014/main" id="{8F9FBD8F-0CAB-4BB2-BBE3-F1C2AC56159D}"/>
              </a:ext>
            </a:extLst>
          </p:cNvPr>
          <p:cNvSpPr>
            <a:spLocks noGrp="1"/>
          </p:cNvSpPr>
          <p:nvPr/>
        </p:nvSpPr>
        <p:spPr>
          <a:xfrm>
            <a:off x="3619500" y="21145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7257D6"/>
          </a:solidFill>
          <a:ln w="0">
            <a:noFill/>
            <a:prstDash val="solid"/>
          </a:ln>
        </p:spPr>
      </p:sp>
      <p:sp>
        <p:nvSpPr>
          <p:cNvPr id="10" name="feature-number-text-1">
            <a:extLst>
              <a:ext uri="{FF2B5EF4-FFF2-40B4-BE49-F238E27FC236}">
                <a16:creationId xmlns:a16="http://schemas.microsoft.com/office/drawing/2014/main" id="{E5281D0F-E9BD-4723-A522-5B741C5B52DD}"/>
              </a:ext>
            </a:extLst>
          </p:cNvPr>
          <p:cNvSpPr>
            <a:spLocks noGrp="1"/>
          </p:cNvSpPr>
          <p:nvPr/>
        </p:nvSpPr>
        <p:spPr>
          <a:xfrm>
            <a:off x="3657600" y="2247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feature-head-1">
            <a:extLst>
              <a:ext uri="{FF2B5EF4-FFF2-40B4-BE49-F238E27FC236}">
                <a16:creationId xmlns:a16="http://schemas.microsoft.com/office/drawing/2014/main" id="{2ADBD87E-18D8-4A4F-AD84-2370D1525ACA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257D6"/>
                </a:solidFill>
              </a:defRPr>
            </a:pPr>
            <a:r>
              <a:rPr sz="1200" b="1">
                <a:solidFill>
                  <a:srgbClr val="7257D6"/>
                </a:solidFill>
              </a:rPr>
              <a:t>UNDERSTAND</a:t>
            </a:r>
          </a:p>
        </p:txBody>
      </p:sp>
      <p:sp>
        <p:nvSpPr>
          <p:cNvPr id="12" name="feature-body-1">
            <a:extLst>
              <a:ext uri="{FF2B5EF4-FFF2-40B4-BE49-F238E27FC236}">
                <a16:creationId xmlns:a16="http://schemas.microsoft.com/office/drawing/2014/main" id="{38CC76D6-FE25-4465-B2A5-8A4532F48DBC}"/>
              </a:ext>
            </a:extLst>
          </p:cNvPr>
          <p:cNvSpPr>
            <a:spLocks noGrp="1"/>
          </p:cNvSpPr>
          <p:nvPr/>
        </p:nvSpPr>
        <p:spPr>
          <a:xfrm>
            <a:off x="3619500" y="3314700"/>
            <a:ext cx="19812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AI intent recognition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Cycle count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Damage reporting</a:t>
            </a:r>
          </a:p>
        </p:txBody>
      </p:sp>
      <p:sp>
        <p:nvSpPr>
          <p:cNvPr id="13" name="feature-bg-2">
            <a:extLst>
              <a:ext uri="{FF2B5EF4-FFF2-40B4-BE49-F238E27FC236}">
                <a16:creationId xmlns:a16="http://schemas.microsoft.com/office/drawing/2014/main" id="{C13E2DBF-D9F5-462C-8602-601CFA8A9962}"/>
              </a:ext>
            </a:extLst>
          </p:cNvPr>
          <p:cNvSpPr>
            <a:spLocks noGrp="1"/>
          </p:cNvSpPr>
          <p:nvPr/>
        </p:nvSpPr>
        <p:spPr>
          <a:xfrm>
            <a:off x="6134100" y="1885950"/>
            <a:ext cx="2400300" cy="32575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9E4F2"/>
            </a:solidFill>
            <a:prstDash val="solid"/>
          </a:ln>
        </p:spPr>
      </p:sp>
      <p:sp>
        <p:nvSpPr>
          <p:cNvPr id="14" name="feature-number-2">
            <a:extLst>
              <a:ext uri="{FF2B5EF4-FFF2-40B4-BE49-F238E27FC236}">
                <a16:creationId xmlns:a16="http://schemas.microsoft.com/office/drawing/2014/main" id="{1CC04239-23E8-4856-B0A6-B1BDAEFDF526}"/>
              </a:ext>
            </a:extLst>
          </p:cNvPr>
          <p:cNvSpPr>
            <a:spLocks noGrp="1"/>
          </p:cNvSpPr>
          <p:nvPr/>
        </p:nvSpPr>
        <p:spPr>
          <a:xfrm>
            <a:off x="6343650" y="21145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E18A00"/>
          </a:solidFill>
          <a:ln w="0">
            <a:noFill/>
            <a:prstDash val="solid"/>
          </a:ln>
        </p:spPr>
      </p:sp>
      <p:sp>
        <p:nvSpPr>
          <p:cNvPr id="15" name="feature-number-text-2">
            <a:extLst>
              <a:ext uri="{FF2B5EF4-FFF2-40B4-BE49-F238E27FC236}">
                <a16:creationId xmlns:a16="http://schemas.microsoft.com/office/drawing/2014/main" id="{DCFDCBBC-114E-4158-ADA2-1E691439F10C}"/>
              </a:ext>
            </a:extLst>
          </p:cNvPr>
          <p:cNvSpPr>
            <a:spLocks noGrp="1"/>
          </p:cNvSpPr>
          <p:nvPr/>
        </p:nvSpPr>
        <p:spPr>
          <a:xfrm>
            <a:off x="6381750" y="2247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feature-head-2">
            <a:extLst>
              <a:ext uri="{FF2B5EF4-FFF2-40B4-BE49-F238E27FC236}">
                <a16:creationId xmlns:a16="http://schemas.microsoft.com/office/drawing/2014/main" id="{ED7FEDDD-CF04-433C-ABB6-418CAA7FAEA0}"/>
              </a:ext>
            </a:extLst>
          </p:cNvPr>
          <p:cNvSpPr>
            <a:spLocks noGrp="1"/>
          </p:cNvSpPr>
          <p:nvPr/>
        </p:nvSpPr>
        <p:spPr>
          <a:xfrm>
            <a:off x="6343650" y="29146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18A00"/>
                </a:solidFill>
              </a:defRPr>
            </a:pPr>
            <a:r>
              <a:rPr sz="1200" b="1">
                <a:solidFill>
                  <a:srgbClr val="E18A00"/>
                </a:solidFill>
              </a:rPr>
              <a:t>CONTROL</a:t>
            </a:r>
          </a:p>
        </p:txBody>
      </p:sp>
      <p:sp>
        <p:nvSpPr>
          <p:cNvPr id="17" name="feature-body-2">
            <a:extLst>
              <a:ext uri="{FF2B5EF4-FFF2-40B4-BE49-F238E27FC236}">
                <a16:creationId xmlns:a16="http://schemas.microsoft.com/office/drawing/2014/main" id="{E3CDA614-CE56-4F28-82BD-378E10BCA67B}"/>
              </a:ext>
            </a:extLst>
          </p:cNvPr>
          <p:cNvSpPr>
            <a:spLocks noGrp="1"/>
          </p:cNvSpPr>
          <p:nvPr/>
        </p:nvSpPr>
        <p:spPr>
          <a:xfrm>
            <a:off x="6343650" y="3314700"/>
            <a:ext cx="19812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Low-stock detection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Auto PO draft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Manager approval</a:t>
            </a:r>
          </a:p>
        </p:txBody>
      </p:sp>
      <p:sp>
        <p:nvSpPr>
          <p:cNvPr id="18" name="feature-bg-3">
            <a:extLst>
              <a:ext uri="{FF2B5EF4-FFF2-40B4-BE49-F238E27FC236}">
                <a16:creationId xmlns:a16="http://schemas.microsoft.com/office/drawing/2014/main" id="{7AD0DAD2-0725-482B-B680-627D50A37C65}"/>
              </a:ext>
            </a:extLst>
          </p:cNvPr>
          <p:cNvSpPr>
            <a:spLocks noGrp="1"/>
          </p:cNvSpPr>
          <p:nvPr/>
        </p:nvSpPr>
        <p:spPr>
          <a:xfrm>
            <a:off x="8858250" y="1885950"/>
            <a:ext cx="2400300" cy="32575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9E4F2"/>
            </a:solidFill>
            <a:prstDash val="solid"/>
          </a:ln>
        </p:spPr>
      </p:sp>
      <p:sp>
        <p:nvSpPr>
          <p:cNvPr id="19" name="feature-number-3">
            <a:extLst>
              <a:ext uri="{FF2B5EF4-FFF2-40B4-BE49-F238E27FC236}">
                <a16:creationId xmlns:a16="http://schemas.microsoft.com/office/drawing/2014/main" id="{88E3F9F2-0D68-48DF-8C90-B748EBF90872}"/>
              </a:ext>
            </a:extLst>
          </p:cNvPr>
          <p:cNvSpPr>
            <a:spLocks noGrp="1"/>
          </p:cNvSpPr>
          <p:nvPr/>
        </p:nvSpPr>
        <p:spPr>
          <a:xfrm>
            <a:off x="9067800" y="2114550"/>
            <a:ext cx="514350" cy="514350"/>
          </a:xfrm>
          <a:prstGeom prst="roundRect">
            <a:avLst>
              <a:gd name="adj" fmla="val 22222"/>
            </a:avLst>
          </a:prstGeom>
          <a:solidFill>
            <a:srgbClr val="15B87A"/>
          </a:solidFill>
          <a:ln w="0">
            <a:noFill/>
            <a:prstDash val="solid"/>
          </a:ln>
        </p:spPr>
      </p:sp>
      <p:sp>
        <p:nvSpPr>
          <p:cNvPr id="20" name="feature-number-text-3">
            <a:extLst>
              <a:ext uri="{FF2B5EF4-FFF2-40B4-BE49-F238E27FC236}">
                <a16:creationId xmlns:a16="http://schemas.microsoft.com/office/drawing/2014/main" id="{DC6A19AA-51FD-433B-9EBA-FC0EE8AE0542}"/>
              </a:ext>
            </a:extLst>
          </p:cNvPr>
          <p:cNvSpPr>
            <a:spLocks noGrp="1"/>
          </p:cNvSpPr>
          <p:nvPr/>
        </p:nvSpPr>
        <p:spPr>
          <a:xfrm>
            <a:off x="9105900" y="22479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feature-head-3">
            <a:extLst>
              <a:ext uri="{FF2B5EF4-FFF2-40B4-BE49-F238E27FC236}">
                <a16:creationId xmlns:a16="http://schemas.microsoft.com/office/drawing/2014/main" id="{CD5882A0-31D9-469C-B8AA-656435F371D3}"/>
              </a:ext>
            </a:extLst>
          </p:cNvPr>
          <p:cNvSpPr>
            <a:spLocks noGrp="1"/>
          </p:cNvSpPr>
          <p:nvPr/>
        </p:nvSpPr>
        <p:spPr>
          <a:xfrm>
            <a:off x="9067800" y="2914650"/>
            <a:ext cx="198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5B87A"/>
                </a:solidFill>
              </a:defRPr>
            </a:pPr>
            <a:r>
              <a:rPr sz="1200" b="1">
                <a:solidFill>
                  <a:srgbClr val="15B87A"/>
                </a:solidFill>
              </a:rPr>
              <a:t>PROVE</a:t>
            </a:r>
          </a:p>
        </p:txBody>
      </p:sp>
      <p:sp>
        <p:nvSpPr>
          <p:cNvPr id="22" name="feature-body-3">
            <a:extLst>
              <a:ext uri="{FF2B5EF4-FFF2-40B4-BE49-F238E27FC236}">
                <a16:creationId xmlns:a16="http://schemas.microsoft.com/office/drawing/2014/main" id="{86AC2059-2BC5-4AB6-AF46-3D4CEE567614}"/>
              </a:ext>
            </a:extLst>
          </p:cNvPr>
          <p:cNvSpPr>
            <a:spLocks noGrp="1"/>
          </p:cNvSpPr>
          <p:nvPr/>
        </p:nvSpPr>
        <p:spPr>
          <a:xfrm>
            <a:off x="9067800" y="3314700"/>
            <a:ext cx="19812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Real-time dashboard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Inventory audit</a:t>
            </a:r>
          </a:p>
          <a:p>
            <a:pPr algn="l">
              <a:defRPr sz="1425" b="1">
                <a:solidFill>
                  <a:srgbClr val="071A38"/>
                </a:solidFill>
              </a:defRPr>
            </a:pPr>
            <a:r>
              <a:rPr sz="1425" b="1">
                <a:solidFill>
                  <a:srgbClr val="071A38"/>
                </a:solidFill>
              </a:rPr>
              <a:t>Complete audit trail</a:t>
            </a:r>
          </a:p>
        </p:txBody>
      </p:sp>
      <p:sp>
        <p:nvSpPr>
          <p:cNvPr id="23" name="security strip">
            <a:extLst>
              <a:ext uri="{FF2B5EF4-FFF2-40B4-BE49-F238E27FC236}">
                <a16:creationId xmlns:a16="http://schemas.microsoft.com/office/drawing/2014/main" id="{F5557C26-9834-4C8C-BF39-37AB842522F4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629900" cy="590550"/>
          </a:xfrm>
          <a:prstGeom prst="roundRect">
            <a:avLst>
              <a:gd name="adj" fmla="val 19355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24" name="security text">
            <a:extLst>
              <a:ext uri="{FF2B5EF4-FFF2-40B4-BE49-F238E27FC236}">
                <a16:creationId xmlns:a16="http://schemas.microsoft.com/office/drawing/2014/main" id="{051294C0-9361-4F37-A1E6-C8D8328E09F4}"/>
              </a:ext>
            </a:extLst>
          </p:cNvPr>
          <p:cNvSpPr>
            <a:spLocks noGrp="1"/>
          </p:cNvSpPr>
          <p:nvPr/>
        </p:nvSpPr>
        <p:spPr>
          <a:xfrm>
            <a:off x="933450" y="5657850"/>
            <a:ext cx="1013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Secure role-based access  •  Worker confirmation  •  Manager oversight  •  Every change recorded</a:t>
            </a:r>
          </a:p>
        </p:txBody>
      </p:sp>
      <p:sp>
        <p:nvSpPr>
          <p:cNvPr id="25" name="footer-6">
            <a:extLst>
              <a:ext uri="{FF2B5EF4-FFF2-40B4-BE49-F238E27FC236}">
                <a16:creationId xmlns:a16="http://schemas.microsoft.com/office/drawing/2014/main" id="{C58C6954-F9BB-4E16-946D-1D93C4D7B01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7E96B5"/>
                </a:solidFill>
              </a:defRPr>
            </a:pPr>
            <a:r>
              <a:rPr sz="750" b="1">
                <a:solidFill>
                  <a:srgbClr val="7E96B5"/>
                </a:solidFill>
              </a:rPr>
              <a:t>AI VOICE INVENTORY  •  06</a:t>
            </a:r>
          </a:p>
        </p:txBody>
      </p:sp>
      <p:pic>
        <p:nvPicPr>
          <p:cNvPr id="27" name="scene-06">
            <a:hlinkClick r:id="" action="ppaction://media"/>
            <a:extLst>
              <a:ext uri="{FF2B5EF4-FFF2-40B4-BE49-F238E27FC236}">
                <a16:creationId xmlns:a16="http://schemas.microsoft.com/office/drawing/2014/main" id="{39D939F8-43DE-5852-27EA-A1FA3E77C0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6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13000">
        <p:fade/>
      </p:transition>
    </mc:Choice>
    <mc:Fallback>
      <p:transition spd="slow" advClick="0" advTm="1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72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losing overlay">
            <a:extLst>
              <a:ext uri="{FF2B5EF4-FFF2-40B4-BE49-F238E27FC236}">
                <a16:creationId xmlns:a16="http://schemas.microsoft.com/office/drawing/2014/main" id="{CFA7F061-C7C6-48CC-8E8E-2C1602F2C5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71A38"/>
          </a:solidFill>
          <a:ln w="0">
            <a:noFill/>
            <a:prstDash val="solid"/>
          </a:ln>
        </p:spPr>
      </p:sp>
      <p:sp>
        <p:nvSpPr>
          <p:cNvPr id="3" name="closing title">
            <a:extLst>
              <a:ext uri="{FF2B5EF4-FFF2-40B4-BE49-F238E27FC236}">
                <a16:creationId xmlns:a16="http://schemas.microsoft.com/office/drawing/2014/main" id="{AC5BEC69-923D-4BAC-B581-A64B6347286D}"/>
              </a:ext>
            </a:extLst>
          </p:cNvPr>
          <p:cNvSpPr>
            <a:spLocks noGrp="1"/>
          </p:cNvSpPr>
          <p:nvPr/>
        </p:nvSpPr>
        <p:spPr>
          <a:xfrm>
            <a:off x="1047750" y="1695450"/>
            <a:ext cx="10096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AI Voice Inventory Management</a:t>
            </a:r>
          </a:p>
        </p:txBody>
      </p:sp>
      <p:sp>
        <p:nvSpPr>
          <p:cNvPr id="4" name="closing line">
            <a:extLst>
              <a:ext uri="{FF2B5EF4-FFF2-40B4-BE49-F238E27FC236}">
                <a16:creationId xmlns:a16="http://schemas.microsoft.com/office/drawing/2014/main" id="{2211DF92-13AE-4268-B2D6-B71BB2D6C0D2}"/>
              </a:ext>
            </a:extLst>
          </p:cNvPr>
          <p:cNvSpPr>
            <a:spLocks noGrp="1"/>
          </p:cNvSpPr>
          <p:nvPr/>
        </p:nvSpPr>
        <p:spPr>
          <a:xfrm>
            <a:off x="1047750" y="2857500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325" b="1">
                <a:solidFill>
                  <a:srgbClr val="36C5F0"/>
                </a:solidFill>
              </a:defRPr>
            </a:pPr>
            <a:r>
              <a:rPr sz="2325" b="1">
                <a:solidFill>
                  <a:srgbClr val="36C5F0"/>
                </a:solidFill>
              </a:rPr>
              <a:t>Speak. Confirm. Update. Monitor.</a:t>
            </a:r>
          </a:p>
        </p:txBody>
      </p:sp>
      <p:sp>
        <p:nvSpPr>
          <p:cNvPr id="5" name="closing rule">
            <a:extLst>
              <a:ext uri="{FF2B5EF4-FFF2-40B4-BE49-F238E27FC236}">
                <a16:creationId xmlns:a16="http://schemas.microsoft.com/office/drawing/2014/main" id="{A3367062-EB65-44CB-B141-F19FDB8ABD90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3238500" cy="47625"/>
          </a:xfrm>
          <a:prstGeom prst="roundRect">
            <a:avLst>
              <a:gd name="adj" fmla="val 0"/>
            </a:avLst>
          </a:prstGeom>
          <a:solidFill>
            <a:srgbClr val="246BFD"/>
          </a:solidFill>
          <a:ln w="0">
            <a:noFill/>
            <a:prstDash val="solid"/>
          </a:ln>
        </p:spPr>
      </p:sp>
      <p:sp>
        <p:nvSpPr>
          <p:cNvPr id="6" name="closing pillars">
            <a:extLst>
              <a:ext uri="{FF2B5EF4-FFF2-40B4-BE49-F238E27FC236}">
                <a16:creationId xmlns:a16="http://schemas.microsoft.com/office/drawing/2014/main" id="{360CB340-50D5-413C-A362-EAC9755AAC62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D7E7FA"/>
                </a:solidFill>
              </a:defRPr>
            </a:pPr>
            <a:r>
              <a:rPr sz="1350" b="1">
                <a:solidFill>
                  <a:srgbClr val="D7E7FA"/>
                </a:solidFill>
              </a:rPr>
              <a:t>REAL-TIME   •   AI POWERED   •   SECURE   •   ENTERPRISE READY</a:t>
            </a:r>
          </a:p>
        </p:txBody>
      </p:sp>
      <p:sp>
        <p:nvSpPr>
          <p:cNvPr id="7" name="closing promise">
            <a:extLst>
              <a:ext uri="{FF2B5EF4-FFF2-40B4-BE49-F238E27FC236}">
                <a16:creationId xmlns:a16="http://schemas.microsoft.com/office/drawing/2014/main" id="{4EEB6140-28F9-4F1B-8102-53E6205BBDF1}"/>
              </a:ext>
            </a:extLst>
          </p:cNvPr>
          <p:cNvSpPr>
            <a:spLocks noGrp="1"/>
          </p:cNvSpPr>
          <p:nvPr/>
        </p:nvSpPr>
        <p:spPr>
          <a:xfrm>
            <a:off x="1905000" y="495300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AFC3DD"/>
                </a:solidFill>
              </a:defRPr>
            </a:pPr>
            <a:r>
              <a:rPr sz="1500" b="0">
                <a:solidFill>
                  <a:srgbClr val="AFC3DD"/>
                </a:solidFill>
              </a:rPr>
              <a:t>A faster, safer and fully auditable way to run warehouse operations.</a:t>
            </a:r>
          </a:p>
        </p:txBody>
      </p:sp>
      <p:pic>
        <p:nvPicPr>
          <p:cNvPr id="9" name="scene-07">
            <a:hlinkClick r:id="" action="ppaction://media"/>
            <a:extLst>
              <a:ext uri="{FF2B5EF4-FFF2-40B4-BE49-F238E27FC236}">
                <a16:creationId xmlns:a16="http://schemas.microsoft.com/office/drawing/2014/main" id="{8B79ACCD-6B22-9717-56D7-8195B107A3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51525" y="3184525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12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9000">
        <p:fade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13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DocSecurity>0</DocSecurity>
  <PresentationFormat>Widescreen</PresentationFormat>
  <Paragraphs>84</Paragraphs>
  <Slides>7</Slides>
  <Notes>7</Notes>
  <HiddenSlides>0</HiddenSlides>
  <MMClips>7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prit patel</cp:lastModifiedBy>
  <cp:revision>1</cp:revision>
  <dcterms:created xsi:type="dcterms:W3CDTF">2026-08-10T05:16:01Z</dcterms:created>
  <dcterms:modified xsi:type="dcterms:W3CDTF">2026-08-10T05:22:36Z</dcterms:modified>
</cp:coreProperties>
</file>